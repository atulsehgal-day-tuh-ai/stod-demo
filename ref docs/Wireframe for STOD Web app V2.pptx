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7" r:id="rId1"/>
  </p:sldMasterIdLst>
  <p:notesMasterIdLst>
    <p:notesMasterId r:id="rId16"/>
  </p:notesMasterIdLst>
  <p:sldIdLst>
    <p:sldId id="321" r:id="rId2"/>
    <p:sldId id="313" r:id="rId3"/>
    <p:sldId id="312" r:id="rId4"/>
    <p:sldId id="322" r:id="rId5"/>
    <p:sldId id="323" r:id="rId6"/>
    <p:sldId id="324" r:id="rId7"/>
    <p:sldId id="325" r:id="rId8"/>
    <p:sldId id="326" r:id="rId9"/>
    <p:sldId id="327" r:id="rId10"/>
    <p:sldId id="328" r:id="rId11"/>
    <p:sldId id="329" r:id="rId12"/>
    <p:sldId id="330" r:id="rId13"/>
    <p:sldId id="331"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4495"/>
    <p:restoredTop sz="88340"/>
  </p:normalViewPr>
  <p:slideViewPr>
    <p:cSldViewPr snapToGrid="0">
      <p:cViewPr varScale="1">
        <p:scale>
          <a:sx n="106" d="100"/>
          <a:sy n="106" d="100"/>
        </p:scale>
        <p:origin x="280" y="192"/>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8E4796-AC2D-6440-9438-DD5E65ABD4C3}" type="datetimeFigureOut">
              <a:rPr lang="en-US" smtClean="0"/>
              <a:t>12/11/25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6EF758-C496-B848-A685-B9F03DFD3900}" type="slidenum">
              <a:rPr lang="en-US" smtClean="0"/>
              <a:t>‹#›</a:t>
            </a:fld>
            <a:endParaRPr lang="en-US"/>
          </a:p>
        </p:txBody>
      </p:sp>
    </p:spTree>
    <p:extLst>
      <p:ext uri="{BB962C8B-B14F-4D97-AF65-F5344CB8AC3E}">
        <p14:creationId xmlns:p14="http://schemas.microsoft.com/office/powerpoint/2010/main" val="1761624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5F97E-C816-BFBA-C0E0-063825BB9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598A9-8C01-76C8-6248-6B1EAFD77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D09CB-DB1A-994D-7146-53B55A6127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6579DE-3163-C268-EF2D-30A6F5744B14}"/>
              </a:ext>
            </a:extLst>
          </p:cNvPr>
          <p:cNvSpPr>
            <a:spLocks noGrp="1"/>
          </p:cNvSpPr>
          <p:nvPr>
            <p:ph type="sldNum" sz="quarter" idx="5"/>
          </p:nvPr>
        </p:nvSpPr>
        <p:spPr/>
        <p:txBody>
          <a:bodyPr/>
          <a:lstStyle/>
          <a:p>
            <a:fld id="{816EF758-C496-B848-A685-B9F03DFD3900}" type="slidenum">
              <a:rPr lang="en-US" smtClean="0"/>
              <a:t>1</a:t>
            </a:fld>
            <a:endParaRPr lang="en-US"/>
          </a:p>
        </p:txBody>
      </p:sp>
    </p:spTree>
    <p:extLst>
      <p:ext uri="{BB962C8B-B14F-4D97-AF65-F5344CB8AC3E}">
        <p14:creationId xmlns:p14="http://schemas.microsoft.com/office/powerpoint/2010/main" val="3738034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6EF758-C496-B848-A685-B9F03DFD3900}" type="slidenum">
              <a:rPr lang="en-US" smtClean="0"/>
              <a:t>3</a:t>
            </a:fld>
            <a:endParaRPr lang="en-US"/>
          </a:p>
        </p:txBody>
      </p:sp>
    </p:spTree>
    <p:extLst>
      <p:ext uri="{BB962C8B-B14F-4D97-AF65-F5344CB8AC3E}">
        <p14:creationId xmlns:p14="http://schemas.microsoft.com/office/powerpoint/2010/main" val="2625951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279B0-0BBA-0783-78A8-6C3D96A372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95A006-441E-2E76-08E9-0F8FAB9E33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AB4DE0-5755-7019-4CAB-0051CEFAD1A0}"/>
              </a:ext>
            </a:extLst>
          </p:cNvPr>
          <p:cNvSpPr>
            <a:spLocks noGrp="1"/>
          </p:cNvSpPr>
          <p:nvPr>
            <p:ph type="dt" sz="half" idx="10"/>
          </p:nvPr>
        </p:nvSpPr>
        <p:spPr/>
        <p:txBody>
          <a:bodyPr/>
          <a:lstStyle/>
          <a:p>
            <a:fld id="{87DE6118-2437-4B30-8E3C-4D2BE6020583}" type="datetimeFigureOut">
              <a:rPr lang="en-US" smtClean="0"/>
              <a:pPr/>
              <a:t>12/11/25</a:t>
            </a:fld>
            <a:endParaRPr lang="en-US" dirty="0"/>
          </a:p>
        </p:txBody>
      </p:sp>
      <p:sp>
        <p:nvSpPr>
          <p:cNvPr id="5" name="Footer Placeholder 4">
            <a:extLst>
              <a:ext uri="{FF2B5EF4-FFF2-40B4-BE49-F238E27FC236}">
                <a16:creationId xmlns:a16="http://schemas.microsoft.com/office/drawing/2014/main" id="{8D8FA8E7-4E86-0D5A-2A8F-5AA437F686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FB3F958-A861-95E3-A971-56A4FCB6A16C}"/>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248220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A6A49-2844-928B-5FA2-9DE3301AC7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9E40A-5DC1-5CD3-AEF2-D56D95D163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5EA097-5301-0E3F-B72E-54186E8EFA63}"/>
              </a:ext>
            </a:extLst>
          </p:cNvPr>
          <p:cNvSpPr>
            <a:spLocks noGrp="1"/>
          </p:cNvSpPr>
          <p:nvPr>
            <p:ph type="dt" sz="half" idx="10"/>
          </p:nvPr>
        </p:nvSpPr>
        <p:spPr/>
        <p:txBody>
          <a:bodyPr/>
          <a:lstStyle/>
          <a:p>
            <a:fld id="{87DE6118-2437-4B30-8E3C-4D2BE6020583}" type="datetimeFigureOut">
              <a:rPr lang="en-US" smtClean="0"/>
              <a:t>12/11/25</a:t>
            </a:fld>
            <a:endParaRPr lang="en-US" dirty="0"/>
          </a:p>
        </p:txBody>
      </p:sp>
      <p:sp>
        <p:nvSpPr>
          <p:cNvPr id="5" name="Footer Placeholder 4">
            <a:extLst>
              <a:ext uri="{FF2B5EF4-FFF2-40B4-BE49-F238E27FC236}">
                <a16:creationId xmlns:a16="http://schemas.microsoft.com/office/drawing/2014/main" id="{0E382762-3F3B-A579-0EDB-32E4C7754B5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E3EEB1A-FCC1-5B4F-3FE4-E0409F3283A7}"/>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5922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DDDC6-B9D2-F58F-784A-4ADC644DE1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8D8C29-C2F5-321F-A8D5-E0A461BA09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F0CF94-238B-53C5-6E6A-8951464DAF23}"/>
              </a:ext>
            </a:extLst>
          </p:cNvPr>
          <p:cNvSpPr>
            <a:spLocks noGrp="1"/>
          </p:cNvSpPr>
          <p:nvPr>
            <p:ph type="dt" sz="half" idx="10"/>
          </p:nvPr>
        </p:nvSpPr>
        <p:spPr/>
        <p:txBody>
          <a:bodyPr/>
          <a:lstStyle/>
          <a:p>
            <a:fld id="{87DE6118-2437-4B30-8E3C-4D2BE6020583}" type="datetimeFigureOut">
              <a:rPr lang="en-US" smtClean="0"/>
              <a:pPr/>
              <a:t>12/11/25</a:t>
            </a:fld>
            <a:endParaRPr lang="en-US" dirty="0"/>
          </a:p>
        </p:txBody>
      </p:sp>
      <p:sp>
        <p:nvSpPr>
          <p:cNvPr id="5" name="Footer Placeholder 4">
            <a:extLst>
              <a:ext uri="{FF2B5EF4-FFF2-40B4-BE49-F238E27FC236}">
                <a16:creationId xmlns:a16="http://schemas.microsoft.com/office/drawing/2014/main" id="{5CB6B62C-D61D-0B2D-52D7-2384E516E18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6C7E481-09DC-71E3-5B90-1E47E278FC41}"/>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841303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CBE5C-969B-93C2-A328-9C7098DD2B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9CD7BA-0BB7-566B-00EC-D57A1FAFB2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22D914-289D-64DA-F7DA-521E3651A3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DAB97D-D3EB-1D88-A181-BEEF0E01309A}"/>
              </a:ext>
            </a:extLst>
          </p:cNvPr>
          <p:cNvSpPr>
            <a:spLocks noGrp="1"/>
          </p:cNvSpPr>
          <p:nvPr>
            <p:ph type="dt" sz="half" idx="10"/>
          </p:nvPr>
        </p:nvSpPr>
        <p:spPr/>
        <p:txBody>
          <a:bodyPr/>
          <a:lstStyle/>
          <a:p>
            <a:fld id="{87DE6118-2437-4B30-8E3C-4D2BE6020583}" type="datetimeFigureOut">
              <a:rPr lang="en-US" smtClean="0"/>
              <a:t>12/11/25</a:t>
            </a:fld>
            <a:endParaRPr lang="en-US" dirty="0"/>
          </a:p>
        </p:txBody>
      </p:sp>
      <p:sp>
        <p:nvSpPr>
          <p:cNvPr id="6" name="Footer Placeholder 5">
            <a:extLst>
              <a:ext uri="{FF2B5EF4-FFF2-40B4-BE49-F238E27FC236}">
                <a16:creationId xmlns:a16="http://schemas.microsoft.com/office/drawing/2014/main" id="{8F85CD3C-ABCA-6E53-84A2-3C681D8D913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FA0BDF7-DA47-DED2-52C2-E1141F7982FA}"/>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12823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C2C4-FCEE-67DB-E6EE-CF699BBAC7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B7C06F-EA76-3C6D-ADC0-84EBF4D6A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2E6DCD-65BD-7F08-BD18-F80D63F688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5817AE-E236-CC2F-9859-F537613D5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DF247A-6AAC-93E6-5D21-29EBE61CBA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3C2421-7B97-EB64-E940-9EC64D7161BF}"/>
              </a:ext>
            </a:extLst>
          </p:cNvPr>
          <p:cNvSpPr>
            <a:spLocks noGrp="1"/>
          </p:cNvSpPr>
          <p:nvPr>
            <p:ph type="dt" sz="half" idx="10"/>
          </p:nvPr>
        </p:nvSpPr>
        <p:spPr/>
        <p:txBody>
          <a:bodyPr/>
          <a:lstStyle/>
          <a:p>
            <a:fld id="{87DE6118-2437-4B30-8E3C-4D2BE6020583}" type="datetimeFigureOut">
              <a:rPr lang="en-US" smtClean="0"/>
              <a:t>12/11/25</a:t>
            </a:fld>
            <a:endParaRPr lang="en-US" dirty="0"/>
          </a:p>
        </p:txBody>
      </p:sp>
      <p:sp>
        <p:nvSpPr>
          <p:cNvPr id="8" name="Footer Placeholder 7">
            <a:extLst>
              <a:ext uri="{FF2B5EF4-FFF2-40B4-BE49-F238E27FC236}">
                <a16:creationId xmlns:a16="http://schemas.microsoft.com/office/drawing/2014/main" id="{74487B01-000A-52EA-04E5-1C279C091CD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AF311B7-D2AE-C682-3798-C6D9FC4C098F}"/>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838862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6052A-61DD-B6D3-8AAE-256F8A255A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FDFF18-2C7B-67AC-7382-5DD2CAEC8DB3}"/>
              </a:ext>
            </a:extLst>
          </p:cNvPr>
          <p:cNvSpPr>
            <a:spLocks noGrp="1"/>
          </p:cNvSpPr>
          <p:nvPr>
            <p:ph type="dt" sz="half" idx="10"/>
          </p:nvPr>
        </p:nvSpPr>
        <p:spPr/>
        <p:txBody>
          <a:bodyPr/>
          <a:lstStyle/>
          <a:p>
            <a:fld id="{87DE6118-2437-4B30-8E3C-4D2BE6020583}" type="datetimeFigureOut">
              <a:rPr lang="en-US" smtClean="0"/>
              <a:t>12/11/25</a:t>
            </a:fld>
            <a:endParaRPr lang="en-US" dirty="0"/>
          </a:p>
        </p:txBody>
      </p:sp>
      <p:sp>
        <p:nvSpPr>
          <p:cNvPr id="4" name="Footer Placeholder 3">
            <a:extLst>
              <a:ext uri="{FF2B5EF4-FFF2-40B4-BE49-F238E27FC236}">
                <a16:creationId xmlns:a16="http://schemas.microsoft.com/office/drawing/2014/main" id="{DFCD3DC1-E70C-8DE6-B10D-F7F8D73151C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034362D-44EE-5157-E59D-F529CFEA0317}"/>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0929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C5A750-DF48-E194-414C-C0311D44D1E2}"/>
              </a:ext>
            </a:extLst>
          </p:cNvPr>
          <p:cNvSpPr>
            <a:spLocks noGrp="1"/>
          </p:cNvSpPr>
          <p:nvPr>
            <p:ph type="dt" sz="half" idx="10"/>
          </p:nvPr>
        </p:nvSpPr>
        <p:spPr/>
        <p:txBody>
          <a:bodyPr/>
          <a:lstStyle/>
          <a:p>
            <a:fld id="{87DE6118-2437-4B30-8E3C-4D2BE6020583}" type="datetimeFigureOut">
              <a:rPr lang="en-US" smtClean="0"/>
              <a:t>12/11/25</a:t>
            </a:fld>
            <a:endParaRPr lang="en-US" dirty="0"/>
          </a:p>
        </p:txBody>
      </p:sp>
      <p:sp>
        <p:nvSpPr>
          <p:cNvPr id="3" name="Footer Placeholder 2">
            <a:extLst>
              <a:ext uri="{FF2B5EF4-FFF2-40B4-BE49-F238E27FC236}">
                <a16:creationId xmlns:a16="http://schemas.microsoft.com/office/drawing/2014/main" id="{2D488CD9-836C-5927-994A-67C97D469A3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BA168BB-EAC2-AAAD-7F1D-B0F6D885A344}"/>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927359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CC135-A3B8-4C0E-CD4B-12F680D2AE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8F6373-B703-BF60-67DC-F05BEE5AF1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0ABBA1-D144-BE62-B303-AA5D555CFE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896F56-E963-87F4-BFD1-F973D24FB7D5}"/>
              </a:ext>
            </a:extLst>
          </p:cNvPr>
          <p:cNvSpPr>
            <a:spLocks noGrp="1"/>
          </p:cNvSpPr>
          <p:nvPr>
            <p:ph type="dt" sz="half" idx="10"/>
          </p:nvPr>
        </p:nvSpPr>
        <p:spPr/>
        <p:txBody>
          <a:bodyPr/>
          <a:lstStyle/>
          <a:p>
            <a:fld id="{87DE6118-2437-4B30-8E3C-4D2BE6020583}" type="datetimeFigureOut">
              <a:rPr lang="en-US" smtClean="0"/>
              <a:pPr/>
              <a:t>12/11/25</a:t>
            </a:fld>
            <a:endParaRPr lang="en-US" dirty="0"/>
          </a:p>
        </p:txBody>
      </p:sp>
      <p:sp>
        <p:nvSpPr>
          <p:cNvPr id="6" name="Footer Placeholder 5">
            <a:extLst>
              <a:ext uri="{FF2B5EF4-FFF2-40B4-BE49-F238E27FC236}">
                <a16:creationId xmlns:a16="http://schemas.microsoft.com/office/drawing/2014/main" id="{D562AD6E-9882-27C0-1F77-02BB7C637B7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C054E7F-386C-D25C-69C2-7FA12CADAFE8}"/>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633174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7E071-26E9-6C5D-DA27-C162A4A7DD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0FC978-F752-32EF-2C69-BD79073738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D24827-238E-562A-33FC-4C41261850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3BF82E-B9F3-95B8-B114-BE86075FEFC4}"/>
              </a:ext>
            </a:extLst>
          </p:cNvPr>
          <p:cNvSpPr>
            <a:spLocks noGrp="1"/>
          </p:cNvSpPr>
          <p:nvPr>
            <p:ph type="dt" sz="half" idx="10"/>
          </p:nvPr>
        </p:nvSpPr>
        <p:spPr/>
        <p:txBody>
          <a:bodyPr/>
          <a:lstStyle/>
          <a:p>
            <a:fld id="{87DE6118-2437-4B30-8E3C-4D2BE6020583}" type="datetimeFigureOut">
              <a:rPr lang="en-US" smtClean="0"/>
              <a:pPr/>
              <a:t>12/11/25</a:t>
            </a:fld>
            <a:endParaRPr lang="en-US" dirty="0"/>
          </a:p>
        </p:txBody>
      </p:sp>
      <p:sp>
        <p:nvSpPr>
          <p:cNvPr id="6" name="Footer Placeholder 5">
            <a:extLst>
              <a:ext uri="{FF2B5EF4-FFF2-40B4-BE49-F238E27FC236}">
                <a16:creationId xmlns:a16="http://schemas.microsoft.com/office/drawing/2014/main" id="{BC46BC4D-9022-EF52-3CB8-DAC2F381D3C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1D91E7B-31C1-7557-06C5-A482921C1510}"/>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976508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E0722-9DBD-20D4-0801-21A6EDC268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E8A1C5-6C9A-476A-3CFF-A4E02A70F4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496661-3FD4-F91A-8F7D-513406271905}"/>
              </a:ext>
            </a:extLst>
          </p:cNvPr>
          <p:cNvSpPr>
            <a:spLocks noGrp="1"/>
          </p:cNvSpPr>
          <p:nvPr>
            <p:ph type="dt" sz="half" idx="10"/>
          </p:nvPr>
        </p:nvSpPr>
        <p:spPr/>
        <p:txBody>
          <a:bodyPr/>
          <a:lstStyle/>
          <a:p>
            <a:fld id="{87DE6118-2437-4B30-8E3C-4D2BE6020583}" type="datetimeFigureOut">
              <a:rPr lang="en-US" smtClean="0"/>
              <a:t>12/11/25</a:t>
            </a:fld>
            <a:endParaRPr lang="en-US" dirty="0"/>
          </a:p>
        </p:txBody>
      </p:sp>
      <p:sp>
        <p:nvSpPr>
          <p:cNvPr id="5" name="Footer Placeholder 4">
            <a:extLst>
              <a:ext uri="{FF2B5EF4-FFF2-40B4-BE49-F238E27FC236}">
                <a16:creationId xmlns:a16="http://schemas.microsoft.com/office/drawing/2014/main" id="{5B0B2D0E-49EA-9DE0-E865-51AFA83A73E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A4C982-85A7-342D-D06F-EE63049A6CB5}"/>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402155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F11D8A-830E-42D0-65F9-0B5439CA70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55281F-FE7F-CCCA-FF51-98C6F6DFE5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38689B-F4F2-7136-8764-DAE810A6A8AE}"/>
              </a:ext>
            </a:extLst>
          </p:cNvPr>
          <p:cNvSpPr>
            <a:spLocks noGrp="1"/>
          </p:cNvSpPr>
          <p:nvPr>
            <p:ph type="dt" sz="half" idx="10"/>
          </p:nvPr>
        </p:nvSpPr>
        <p:spPr/>
        <p:txBody>
          <a:bodyPr/>
          <a:lstStyle/>
          <a:p>
            <a:fld id="{87DE6118-2437-4B30-8E3C-4D2BE6020583}" type="datetimeFigureOut">
              <a:rPr lang="en-US" smtClean="0"/>
              <a:t>12/11/25</a:t>
            </a:fld>
            <a:endParaRPr lang="en-US" dirty="0"/>
          </a:p>
        </p:txBody>
      </p:sp>
      <p:sp>
        <p:nvSpPr>
          <p:cNvPr id="5" name="Footer Placeholder 4">
            <a:extLst>
              <a:ext uri="{FF2B5EF4-FFF2-40B4-BE49-F238E27FC236}">
                <a16:creationId xmlns:a16="http://schemas.microsoft.com/office/drawing/2014/main" id="{68E0AF44-4305-5DA3-438B-45B501FB3C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4AE0164-AF9F-4CCC-78E3-3C80847B07BB}"/>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178106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D3F9BF-AD98-8FD9-93E0-F8411987D1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D5E60F-FC12-D490-CE3D-E1B5A85BF9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F842DE-83A2-6D43-B5D6-10B74BCFEC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DE6118-2437-4B30-8E3C-4D2BE6020583}" type="datetimeFigureOut">
              <a:rPr lang="en-US" smtClean="0"/>
              <a:pPr/>
              <a:t>12/11/25</a:t>
            </a:fld>
            <a:endParaRPr lang="en-US" dirty="0"/>
          </a:p>
        </p:txBody>
      </p:sp>
      <p:sp>
        <p:nvSpPr>
          <p:cNvPr id="5" name="Footer Placeholder 4">
            <a:extLst>
              <a:ext uri="{FF2B5EF4-FFF2-40B4-BE49-F238E27FC236}">
                <a16:creationId xmlns:a16="http://schemas.microsoft.com/office/drawing/2014/main" id="{33843130-EB7C-38C1-0A95-D8C97DB8C1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34ED979D-A1EF-90EF-4497-2693716A04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20099684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9365EC-F708-A5E7-AA96-65D6A74E8E9B}"/>
            </a:ext>
          </a:extLst>
        </p:cNvPr>
        <p:cNvGrpSpPr/>
        <p:nvPr/>
      </p:nvGrpSpPr>
      <p:grpSpPr>
        <a:xfrm>
          <a:off x="0" y="0"/>
          <a:ext cx="0" cy="0"/>
          <a:chOff x="0" y="0"/>
          <a:chExt cx="0" cy="0"/>
        </a:xfrm>
      </p:grpSpPr>
      <p:pic>
        <p:nvPicPr>
          <p:cNvPr id="5" name="Picture 4" descr="Wedding signage on a tree">
            <a:extLst>
              <a:ext uri="{FF2B5EF4-FFF2-40B4-BE49-F238E27FC236}">
                <a16:creationId xmlns:a16="http://schemas.microsoft.com/office/drawing/2014/main" id="{EB70C22E-2F9C-F152-4CD7-D58115316B6A}"/>
              </a:ext>
            </a:extLst>
          </p:cNvPr>
          <p:cNvPicPr>
            <a:picLocks noChangeAspect="1"/>
          </p:cNvPicPr>
          <p:nvPr/>
        </p:nvPicPr>
        <p:blipFill>
          <a:blip r:embed="rId3">
            <a:alphaModFix amt="40000"/>
          </a:blip>
          <a:srcRect t="10271" b="5459"/>
          <a:stretch>
            <a:fillRect/>
          </a:stretch>
        </p:blipFill>
        <p:spPr>
          <a:xfrm>
            <a:off x="20" y="770031"/>
            <a:ext cx="12191980" cy="5046153"/>
          </a:xfrm>
          <a:prstGeom prst="rect">
            <a:avLst/>
          </a:prstGeom>
        </p:spPr>
      </p:pic>
      <p:sp>
        <p:nvSpPr>
          <p:cNvPr id="2" name="Title 1">
            <a:extLst>
              <a:ext uri="{FF2B5EF4-FFF2-40B4-BE49-F238E27FC236}">
                <a16:creationId xmlns:a16="http://schemas.microsoft.com/office/drawing/2014/main" id="{C9B63EBC-47C6-385E-A8CF-CC2D19D249CB}"/>
              </a:ext>
            </a:extLst>
          </p:cNvPr>
          <p:cNvSpPr>
            <a:spLocks noGrp="1"/>
          </p:cNvSpPr>
          <p:nvPr>
            <p:ph type="ctrTitle"/>
          </p:nvPr>
        </p:nvSpPr>
        <p:spPr>
          <a:xfrm>
            <a:off x="1199213" y="1788454"/>
            <a:ext cx="10403173" cy="1859905"/>
          </a:xfrm>
        </p:spPr>
        <p:txBody>
          <a:bodyPr>
            <a:normAutofit/>
          </a:bodyPr>
          <a:lstStyle/>
          <a:p>
            <a:r>
              <a:rPr lang="en-US" sz="6000" dirty="0"/>
              <a:t>Same Thing Only Different</a:t>
            </a:r>
          </a:p>
        </p:txBody>
      </p:sp>
      <p:sp>
        <p:nvSpPr>
          <p:cNvPr id="3" name="Subtitle 2">
            <a:extLst>
              <a:ext uri="{FF2B5EF4-FFF2-40B4-BE49-F238E27FC236}">
                <a16:creationId xmlns:a16="http://schemas.microsoft.com/office/drawing/2014/main" id="{F6B9B13D-D4BB-CF26-8F16-F794DA655136}"/>
              </a:ext>
            </a:extLst>
          </p:cNvPr>
          <p:cNvSpPr>
            <a:spLocks noGrp="1"/>
          </p:cNvSpPr>
          <p:nvPr>
            <p:ph type="subTitle" idx="1"/>
          </p:nvPr>
        </p:nvSpPr>
        <p:spPr>
          <a:xfrm>
            <a:off x="2679906" y="3956279"/>
            <a:ext cx="6831673" cy="1859905"/>
          </a:xfrm>
        </p:spPr>
        <p:txBody>
          <a:bodyPr>
            <a:normAutofit/>
          </a:bodyPr>
          <a:lstStyle/>
          <a:p>
            <a:pPr>
              <a:spcAft>
                <a:spcPts val="600"/>
              </a:spcAft>
            </a:pPr>
            <a:r>
              <a:rPr lang="en-US" dirty="0"/>
              <a:t>The wisdom of the universe is just waiting for us to discover it. The key to unlocking universal secrets is to meld the Same Things that have worked for us in the past with an Only Different element that renders a novel solution. </a:t>
            </a:r>
          </a:p>
          <a:p>
            <a:pPr>
              <a:spcAft>
                <a:spcPts val="600"/>
              </a:spcAft>
            </a:pPr>
            <a:endParaRPr lang="en-US" dirty="0"/>
          </a:p>
        </p:txBody>
      </p:sp>
      <p:sp>
        <p:nvSpPr>
          <p:cNvPr id="6" name="TextBox 5">
            <a:extLst>
              <a:ext uri="{FF2B5EF4-FFF2-40B4-BE49-F238E27FC236}">
                <a16:creationId xmlns:a16="http://schemas.microsoft.com/office/drawing/2014/main" id="{4623E0E1-F6C4-0821-5C60-849E5B8B3631}"/>
              </a:ext>
            </a:extLst>
          </p:cNvPr>
          <p:cNvSpPr txBox="1"/>
          <p:nvPr/>
        </p:nvSpPr>
        <p:spPr>
          <a:xfrm>
            <a:off x="1695796" y="-492586"/>
            <a:ext cx="1978429" cy="369332"/>
          </a:xfrm>
          <a:prstGeom prst="rect">
            <a:avLst/>
          </a:prstGeom>
          <a:noFill/>
        </p:spPr>
        <p:txBody>
          <a:bodyPr wrap="square" rtlCol="0">
            <a:spAutoFit/>
          </a:bodyPr>
          <a:lstStyle/>
          <a:p>
            <a:r>
              <a:rPr lang="en-US" dirty="0">
                <a:solidFill>
                  <a:schemeClr val="bg2"/>
                </a:solidFill>
              </a:rPr>
              <a:t>Events Scheduled</a:t>
            </a:r>
          </a:p>
        </p:txBody>
      </p:sp>
      <p:sp>
        <p:nvSpPr>
          <p:cNvPr id="7" name="TextBox 6">
            <a:extLst>
              <a:ext uri="{FF2B5EF4-FFF2-40B4-BE49-F238E27FC236}">
                <a16:creationId xmlns:a16="http://schemas.microsoft.com/office/drawing/2014/main" id="{7CD0C385-FB37-D1C1-CD13-C976F3A2AA67}"/>
              </a:ext>
            </a:extLst>
          </p:cNvPr>
          <p:cNvSpPr txBox="1"/>
          <p:nvPr/>
        </p:nvSpPr>
        <p:spPr>
          <a:xfrm>
            <a:off x="0" y="-492586"/>
            <a:ext cx="1695796" cy="369332"/>
          </a:xfrm>
          <a:prstGeom prst="rect">
            <a:avLst/>
          </a:prstGeom>
          <a:noFill/>
        </p:spPr>
        <p:txBody>
          <a:bodyPr wrap="square" rtlCol="0">
            <a:spAutoFit/>
          </a:bodyPr>
          <a:lstStyle/>
          <a:p>
            <a:r>
              <a:rPr lang="en-US" dirty="0">
                <a:solidFill>
                  <a:schemeClr val="bg2"/>
                </a:solidFill>
              </a:rPr>
              <a:t>Core Principles</a:t>
            </a:r>
          </a:p>
        </p:txBody>
      </p:sp>
      <p:sp>
        <p:nvSpPr>
          <p:cNvPr id="8" name="TextBox 7">
            <a:extLst>
              <a:ext uri="{FF2B5EF4-FFF2-40B4-BE49-F238E27FC236}">
                <a16:creationId xmlns:a16="http://schemas.microsoft.com/office/drawing/2014/main" id="{293E8598-139E-E446-989F-271372B119A8}"/>
              </a:ext>
            </a:extLst>
          </p:cNvPr>
          <p:cNvSpPr txBox="1"/>
          <p:nvPr/>
        </p:nvSpPr>
        <p:spPr>
          <a:xfrm>
            <a:off x="3674225" y="-492587"/>
            <a:ext cx="1695796" cy="369332"/>
          </a:xfrm>
          <a:prstGeom prst="rect">
            <a:avLst/>
          </a:prstGeom>
          <a:noFill/>
        </p:spPr>
        <p:txBody>
          <a:bodyPr wrap="square" rtlCol="0">
            <a:spAutoFit/>
          </a:bodyPr>
          <a:lstStyle/>
          <a:p>
            <a:r>
              <a:rPr lang="en-US" dirty="0">
                <a:solidFill>
                  <a:schemeClr val="bg2"/>
                </a:solidFill>
              </a:rPr>
              <a:t>How it works</a:t>
            </a:r>
          </a:p>
        </p:txBody>
      </p:sp>
      <p:sp>
        <p:nvSpPr>
          <p:cNvPr id="11" name="TextBox 10">
            <a:extLst>
              <a:ext uri="{FF2B5EF4-FFF2-40B4-BE49-F238E27FC236}">
                <a16:creationId xmlns:a16="http://schemas.microsoft.com/office/drawing/2014/main" id="{561A2BF4-0212-A86D-CAB7-1344CEC43CCE}"/>
              </a:ext>
            </a:extLst>
          </p:cNvPr>
          <p:cNvSpPr txBox="1"/>
          <p:nvPr/>
        </p:nvSpPr>
        <p:spPr>
          <a:xfrm>
            <a:off x="5187135" y="-456451"/>
            <a:ext cx="1978429" cy="369332"/>
          </a:xfrm>
          <a:prstGeom prst="rect">
            <a:avLst/>
          </a:prstGeom>
          <a:noFill/>
        </p:spPr>
        <p:txBody>
          <a:bodyPr wrap="square" rtlCol="0">
            <a:spAutoFit/>
          </a:bodyPr>
          <a:lstStyle/>
          <a:p>
            <a:r>
              <a:rPr lang="en-US" dirty="0">
                <a:solidFill>
                  <a:schemeClr val="bg2"/>
                </a:solidFill>
              </a:rPr>
              <a:t>Contribute</a:t>
            </a:r>
          </a:p>
        </p:txBody>
      </p:sp>
      <p:sp>
        <p:nvSpPr>
          <p:cNvPr id="12" name="TextBox 11">
            <a:extLst>
              <a:ext uri="{FF2B5EF4-FFF2-40B4-BE49-F238E27FC236}">
                <a16:creationId xmlns:a16="http://schemas.microsoft.com/office/drawing/2014/main" id="{C3CFC6B2-66A7-8FD0-E76F-862B426ADD9C}"/>
              </a:ext>
            </a:extLst>
          </p:cNvPr>
          <p:cNvSpPr txBox="1"/>
          <p:nvPr/>
        </p:nvSpPr>
        <p:spPr>
          <a:xfrm>
            <a:off x="6882932" y="-430959"/>
            <a:ext cx="1310574" cy="369331"/>
          </a:xfrm>
          <a:prstGeom prst="rect">
            <a:avLst/>
          </a:prstGeom>
          <a:noFill/>
        </p:spPr>
        <p:txBody>
          <a:bodyPr wrap="square" rtlCol="0">
            <a:spAutoFit/>
          </a:bodyPr>
          <a:lstStyle/>
          <a:p>
            <a:r>
              <a:rPr lang="en-US" dirty="0" err="1">
                <a:solidFill>
                  <a:schemeClr val="bg2"/>
                </a:solidFill>
              </a:rPr>
              <a:t>Signin</a:t>
            </a:r>
            <a:endParaRPr lang="en-US" dirty="0">
              <a:solidFill>
                <a:schemeClr val="bg2"/>
              </a:solidFill>
            </a:endParaRPr>
          </a:p>
        </p:txBody>
      </p:sp>
      <p:sp>
        <p:nvSpPr>
          <p:cNvPr id="13" name="TextBox 12">
            <a:extLst>
              <a:ext uri="{FF2B5EF4-FFF2-40B4-BE49-F238E27FC236}">
                <a16:creationId xmlns:a16="http://schemas.microsoft.com/office/drawing/2014/main" id="{51D7EB86-2AD6-9FAB-9833-461631FD793C}"/>
              </a:ext>
            </a:extLst>
          </p:cNvPr>
          <p:cNvSpPr txBox="1"/>
          <p:nvPr/>
        </p:nvSpPr>
        <p:spPr>
          <a:xfrm rot="10800000" flipV="1">
            <a:off x="8086112" y="-461666"/>
            <a:ext cx="8211776" cy="369332"/>
          </a:xfrm>
          <a:prstGeom prst="rect">
            <a:avLst/>
          </a:prstGeom>
          <a:noFill/>
        </p:spPr>
        <p:txBody>
          <a:bodyPr wrap="square" rtlCol="0">
            <a:spAutoFit/>
          </a:bodyPr>
          <a:lstStyle/>
          <a:p>
            <a:r>
              <a:rPr lang="en-US" dirty="0">
                <a:solidFill>
                  <a:schemeClr val="bg2"/>
                </a:solidFill>
              </a:rPr>
              <a:t>Sign up</a:t>
            </a:r>
          </a:p>
        </p:txBody>
      </p:sp>
      <p:sp>
        <p:nvSpPr>
          <p:cNvPr id="10" name="TextBox 9">
            <a:extLst>
              <a:ext uri="{FF2B5EF4-FFF2-40B4-BE49-F238E27FC236}">
                <a16:creationId xmlns:a16="http://schemas.microsoft.com/office/drawing/2014/main" id="{CB0B9934-8939-6554-7F15-DFA4662A77E4}"/>
              </a:ext>
            </a:extLst>
          </p:cNvPr>
          <p:cNvSpPr txBox="1"/>
          <p:nvPr/>
        </p:nvSpPr>
        <p:spPr>
          <a:xfrm>
            <a:off x="505326" y="6196263"/>
            <a:ext cx="11097060" cy="369332"/>
          </a:xfrm>
          <a:prstGeom prst="rect">
            <a:avLst/>
          </a:prstGeom>
          <a:noFill/>
        </p:spPr>
        <p:txBody>
          <a:bodyPr wrap="square" rtlCol="0">
            <a:spAutoFit/>
          </a:bodyPr>
          <a:lstStyle/>
          <a:p>
            <a:r>
              <a:rPr lang="en-US" dirty="0"/>
              <a:t>Scroll Through a series of testimonials or recommendations</a:t>
            </a:r>
          </a:p>
        </p:txBody>
      </p:sp>
    </p:spTree>
    <p:extLst>
      <p:ext uri="{BB962C8B-B14F-4D97-AF65-F5344CB8AC3E}">
        <p14:creationId xmlns:p14="http://schemas.microsoft.com/office/powerpoint/2010/main" val="352821249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56F7-AD82-F9E8-4B92-63C9D21F7E69}"/>
              </a:ext>
            </a:extLst>
          </p:cNvPr>
          <p:cNvSpPr>
            <a:spLocks noGrp="1"/>
          </p:cNvSpPr>
          <p:nvPr>
            <p:ph type="title"/>
          </p:nvPr>
        </p:nvSpPr>
        <p:spPr/>
        <p:txBody>
          <a:bodyPr/>
          <a:lstStyle/>
          <a:p>
            <a:r>
              <a:rPr lang="en-US" dirty="0"/>
              <a:t>Validation screen (might be part of first screen)</a:t>
            </a:r>
          </a:p>
        </p:txBody>
      </p:sp>
      <p:sp>
        <p:nvSpPr>
          <p:cNvPr id="3" name="Content Placeholder 2">
            <a:extLst>
              <a:ext uri="{FF2B5EF4-FFF2-40B4-BE49-F238E27FC236}">
                <a16:creationId xmlns:a16="http://schemas.microsoft.com/office/drawing/2014/main" id="{2327A1D6-E718-1423-94EE-BBB5B6029957}"/>
              </a:ext>
            </a:extLst>
          </p:cNvPr>
          <p:cNvSpPr>
            <a:spLocks noGrp="1"/>
          </p:cNvSpPr>
          <p:nvPr>
            <p:ph idx="1"/>
          </p:nvPr>
        </p:nvSpPr>
        <p:spPr/>
        <p:txBody>
          <a:bodyPr/>
          <a:lstStyle/>
          <a:p>
            <a:r>
              <a:rPr lang="en-US" dirty="0" err="1"/>
              <a:t>Signin</a:t>
            </a:r>
            <a:r>
              <a:rPr lang="en-US" dirty="0"/>
              <a:t>, </a:t>
            </a:r>
          </a:p>
          <a:p>
            <a:pPr lvl="1"/>
            <a:r>
              <a:rPr lang="en-US" dirty="0"/>
              <a:t>Determines access privileges</a:t>
            </a:r>
          </a:p>
          <a:p>
            <a:pPr lvl="1"/>
            <a:r>
              <a:rPr lang="en-US" dirty="0"/>
              <a:t>Present message that motivates the user to upgrade to next level </a:t>
            </a:r>
          </a:p>
          <a:p>
            <a:r>
              <a:rPr lang="en-US" dirty="0"/>
              <a:t>Signup</a:t>
            </a:r>
          </a:p>
          <a:p>
            <a:pPr lvl="1"/>
            <a:r>
              <a:rPr lang="en-US" dirty="0"/>
              <a:t>Collect email address and phone number</a:t>
            </a:r>
          </a:p>
          <a:p>
            <a:pPr lvl="1"/>
            <a:r>
              <a:rPr lang="en-US" dirty="0"/>
              <a:t>Present a ”fast start” benefit to them</a:t>
            </a:r>
          </a:p>
          <a:p>
            <a:r>
              <a:rPr lang="en-US" dirty="0"/>
              <a:t>Continue</a:t>
            </a:r>
          </a:p>
          <a:p>
            <a:pPr lvl="1"/>
            <a:r>
              <a:rPr lang="en-US" dirty="0"/>
              <a:t>Show something valuable (but no too much) as an incentive to upgrade</a:t>
            </a:r>
          </a:p>
          <a:p>
            <a:r>
              <a:rPr lang="en-US" dirty="0"/>
              <a:t>Track Recommended by or how they heard about us? </a:t>
            </a:r>
          </a:p>
        </p:txBody>
      </p:sp>
    </p:spTree>
    <p:extLst>
      <p:ext uri="{BB962C8B-B14F-4D97-AF65-F5344CB8AC3E}">
        <p14:creationId xmlns:p14="http://schemas.microsoft.com/office/powerpoint/2010/main" val="3942170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Wedding signage on a tree">
            <a:extLst>
              <a:ext uri="{FF2B5EF4-FFF2-40B4-BE49-F238E27FC236}">
                <a16:creationId xmlns:a16="http://schemas.microsoft.com/office/drawing/2014/main" id="{559AC4FE-B343-5C80-1081-416F4FF4CFE3}"/>
              </a:ext>
            </a:extLst>
          </p:cNvPr>
          <p:cNvPicPr>
            <a:picLocks noChangeAspect="1"/>
          </p:cNvPicPr>
          <p:nvPr/>
        </p:nvPicPr>
        <p:blipFill>
          <a:blip r:embed="rId3">
            <a:alphaModFix amt="40000"/>
          </a:blip>
          <a:srcRect t="10271" b="5459"/>
          <a:stretch>
            <a:fillRect/>
          </a:stretch>
        </p:blipFill>
        <p:spPr>
          <a:xfrm>
            <a:off x="20" y="770031"/>
            <a:ext cx="12191980" cy="5046153"/>
          </a:xfrm>
          <a:prstGeom prst="rect">
            <a:avLst/>
          </a:prstGeom>
        </p:spPr>
      </p:pic>
      <p:sp>
        <p:nvSpPr>
          <p:cNvPr id="2" name="Title 1">
            <a:extLst>
              <a:ext uri="{FF2B5EF4-FFF2-40B4-BE49-F238E27FC236}">
                <a16:creationId xmlns:a16="http://schemas.microsoft.com/office/drawing/2014/main" id="{00551A01-249D-CB3D-03C1-E1A58115334E}"/>
              </a:ext>
            </a:extLst>
          </p:cNvPr>
          <p:cNvSpPr>
            <a:spLocks noGrp="1"/>
          </p:cNvSpPr>
          <p:nvPr>
            <p:ph type="ctrTitle"/>
          </p:nvPr>
        </p:nvSpPr>
        <p:spPr>
          <a:xfrm>
            <a:off x="1199213" y="1788454"/>
            <a:ext cx="10403173" cy="1859905"/>
          </a:xfrm>
        </p:spPr>
        <p:txBody>
          <a:bodyPr>
            <a:normAutofit/>
          </a:bodyPr>
          <a:lstStyle/>
          <a:p>
            <a:r>
              <a:rPr lang="en-US" sz="6000" dirty="0"/>
              <a:t>Core Principles</a:t>
            </a:r>
          </a:p>
        </p:txBody>
      </p:sp>
      <p:sp>
        <p:nvSpPr>
          <p:cNvPr id="3" name="Subtitle 2">
            <a:extLst>
              <a:ext uri="{FF2B5EF4-FFF2-40B4-BE49-F238E27FC236}">
                <a16:creationId xmlns:a16="http://schemas.microsoft.com/office/drawing/2014/main" id="{1B40B498-88FB-BD0D-F4AF-5E2664AD2C68}"/>
              </a:ext>
            </a:extLst>
          </p:cNvPr>
          <p:cNvSpPr>
            <a:spLocks noGrp="1"/>
          </p:cNvSpPr>
          <p:nvPr>
            <p:ph type="subTitle" idx="1"/>
          </p:nvPr>
        </p:nvSpPr>
        <p:spPr>
          <a:xfrm>
            <a:off x="2679906" y="3956279"/>
            <a:ext cx="6831673" cy="1859905"/>
          </a:xfrm>
        </p:spPr>
        <p:txBody>
          <a:bodyPr>
            <a:normAutofit/>
          </a:bodyPr>
          <a:lstStyle/>
          <a:p>
            <a:pPr>
              <a:spcAft>
                <a:spcPts val="600"/>
              </a:spcAft>
            </a:pPr>
            <a:r>
              <a:rPr lang="en-US" dirty="0"/>
              <a:t>For as long as I can remember, I have been focused on identifying patterns that lead to successful outcomes. I call these cross-domain patterns Core Principles</a:t>
            </a:r>
          </a:p>
          <a:p>
            <a:pPr>
              <a:spcAft>
                <a:spcPts val="600"/>
              </a:spcAft>
            </a:pPr>
            <a:endParaRPr lang="en-US" dirty="0"/>
          </a:p>
        </p:txBody>
      </p:sp>
      <p:sp>
        <p:nvSpPr>
          <p:cNvPr id="6" name="TextBox 5">
            <a:extLst>
              <a:ext uri="{FF2B5EF4-FFF2-40B4-BE49-F238E27FC236}">
                <a16:creationId xmlns:a16="http://schemas.microsoft.com/office/drawing/2014/main" id="{DD6D55BB-C3F6-9771-ABF9-C66F204FB3A2}"/>
              </a:ext>
            </a:extLst>
          </p:cNvPr>
          <p:cNvSpPr txBox="1"/>
          <p:nvPr/>
        </p:nvSpPr>
        <p:spPr>
          <a:xfrm>
            <a:off x="1695796" y="-492586"/>
            <a:ext cx="2298688" cy="369332"/>
          </a:xfrm>
          <a:prstGeom prst="rect">
            <a:avLst/>
          </a:prstGeom>
          <a:noFill/>
        </p:spPr>
        <p:txBody>
          <a:bodyPr wrap="square" rtlCol="0">
            <a:spAutoFit/>
          </a:bodyPr>
          <a:lstStyle/>
          <a:p>
            <a:r>
              <a:rPr lang="en-US" dirty="0">
                <a:solidFill>
                  <a:schemeClr val="bg2"/>
                </a:solidFill>
              </a:rPr>
              <a:t>Principles in Process</a:t>
            </a:r>
          </a:p>
        </p:txBody>
      </p:sp>
      <p:sp>
        <p:nvSpPr>
          <p:cNvPr id="7" name="TextBox 6">
            <a:extLst>
              <a:ext uri="{FF2B5EF4-FFF2-40B4-BE49-F238E27FC236}">
                <a16:creationId xmlns:a16="http://schemas.microsoft.com/office/drawing/2014/main" id="{834793C7-153C-7765-51D6-5D9300056272}"/>
              </a:ext>
            </a:extLst>
          </p:cNvPr>
          <p:cNvSpPr txBox="1"/>
          <p:nvPr/>
        </p:nvSpPr>
        <p:spPr>
          <a:xfrm>
            <a:off x="0" y="-492586"/>
            <a:ext cx="1695796" cy="369332"/>
          </a:xfrm>
          <a:prstGeom prst="rect">
            <a:avLst/>
          </a:prstGeom>
          <a:noFill/>
        </p:spPr>
        <p:txBody>
          <a:bodyPr wrap="square" rtlCol="0">
            <a:spAutoFit/>
          </a:bodyPr>
          <a:lstStyle/>
          <a:p>
            <a:r>
              <a:rPr lang="en-US" dirty="0">
                <a:solidFill>
                  <a:schemeClr val="bg2"/>
                </a:solidFill>
              </a:rPr>
              <a:t> Core Principles</a:t>
            </a:r>
          </a:p>
        </p:txBody>
      </p:sp>
      <p:sp>
        <p:nvSpPr>
          <p:cNvPr id="11" name="TextBox 10">
            <a:extLst>
              <a:ext uri="{FF2B5EF4-FFF2-40B4-BE49-F238E27FC236}">
                <a16:creationId xmlns:a16="http://schemas.microsoft.com/office/drawing/2014/main" id="{FBB8BAD4-1BBB-3F9F-FA2C-1A83B4C2C77B}"/>
              </a:ext>
            </a:extLst>
          </p:cNvPr>
          <p:cNvSpPr txBox="1"/>
          <p:nvPr/>
        </p:nvSpPr>
        <p:spPr>
          <a:xfrm>
            <a:off x="4752474" y="-456451"/>
            <a:ext cx="2779293" cy="369332"/>
          </a:xfrm>
          <a:prstGeom prst="rect">
            <a:avLst/>
          </a:prstGeom>
          <a:noFill/>
        </p:spPr>
        <p:txBody>
          <a:bodyPr wrap="square" rtlCol="0">
            <a:spAutoFit/>
          </a:bodyPr>
          <a:lstStyle/>
          <a:p>
            <a:r>
              <a:rPr lang="en-US" dirty="0">
                <a:solidFill>
                  <a:schemeClr val="bg2"/>
                </a:solidFill>
              </a:rPr>
              <a:t>Suggest New Principles</a:t>
            </a:r>
          </a:p>
        </p:txBody>
      </p:sp>
      <p:sp>
        <p:nvSpPr>
          <p:cNvPr id="14" name="TextBox 13">
            <a:extLst>
              <a:ext uri="{FF2B5EF4-FFF2-40B4-BE49-F238E27FC236}">
                <a16:creationId xmlns:a16="http://schemas.microsoft.com/office/drawing/2014/main" id="{7EF6E959-889E-D17C-5B8B-E15FD6C73660}"/>
              </a:ext>
            </a:extLst>
          </p:cNvPr>
          <p:cNvSpPr txBox="1"/>
          <p:nvPr/>
        </p:nvSpPr>
        <p:spPr>
          <a:xfrm>
            <a:off x="595234" y="5967760"/>
            <a:ext cx="9252284" cy="369332"/>
          </a:xfrm>
          <a:prstGeom prst="rect">
            <a:avLst/>
          </a:prstGeom>
          <a:noFill/>
        </p:spPr>
        <p:txBody>
          <a:bodyPr wrap="square" rtlCol="0">
            <a:spAutoFit/>
          </a:bodyPr>
          <a:lstStyle/>
          <a:p>
            <a:r>
              <a:rPr lang="en-US" dirty="0"/>
              <a:t>Scroll Through Principle Titles</a:t>
            </a:r>
          </a:p>
        </p:txBody>
      </p:sp>
    </p:spTree>
    <p:extLst>
      <p:ext uri="{BB962C8B-B14F-4D97-AF65-F5344CB8AC3E}">
        <p14:creationId xmlns:p14="http://schemas.microsoft.com/office/powerpoint/2010/main" val="22249216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2F397-E08E-A524-029E-E6D70E3AB292}"/>
              </a:ext>
            </a:extLst>
          </p:cNvPr>
          <p:cNvSpPr>
            <a:spLocks noGrp="1"/>
          </p:cNvSpPr>
          <p:nvPr>
            <p:ph type="title"/>
          </p:nvPr>
        </p:nvSpPr>
        <p:spPr/>
        <p:txBody>
          <a:bodyPr/>
          <a:lstStyle/>
          <a:p>
            <a:r>
              <a:rPr lang="en-US" dirty="0"/>
              <a:t>Core Principles</a:t>
            </a:r>
          </a:p>
        </p:txBody>
      </p:sp>
      <p:sp>
        <p:nvSpPr>
          <p:cNvPr id="3" name="Content Placeholder 2">
            <a:extLst>
              <a:ext uri="{FF2B5EF4-FFF2-40B4-BE49-F238E27FC236}">
                <a16:creationId xmlns:a16="http://schemas.microsoft.com/office/drawing/2014/main" id="{C43A38B8-0207-5799-A289-21D84494AB2F}"/>
              </a:ext>
            </a:extLst>
          </p:cNvPr>
          <p:cNvSpPr>
            <a:spLocks noGrp="1"/>
          </p:cNvSpPr>
          <p:nvPr>
            <p:ph idx="1"/>
          </p:nvPr>
        </p:nvSpPr>
        <p:spPr/>
        <p:txBody>
          <a:bodyPr>
            <a:normAutofit lnSpcReduction="10000"/>
          </a:bodyPr>
          <a:lstStyle/>
          <a:p>
            <a:r>
              <a:rPr lang="en-US" dirty="0"/>
              <a:t>Random presentation of principles or intelligent order?</a:t>
            </a:r>
          </a:p>
          <a:p>
            <a:pPr lvl="1"/>
            <a:r>
              <a:rPr lang="en-US" dirty="0"/>
              <a:t>Alphabetically</a:t>
            </a:r>
          </a:p>
          <a:p>
            <a:pPr lvl="1"/>
            <a:r>
              <a:rPr lang="en-US" dirty="0"/>
              <a:t>Principles they have liked</a:t>
            </a:r>
          </a:p>
          <a:p>
            <a:pPr lvl="1"/>
            <a:r>
              <a:rPr lang="en-US" dirty="0"/>
              <a:t>Most liked</a:t>
            </a:r>
          </a:p>
          <a:p>
            <a:pPr lvl="1"/>
            <a:r>
              <a:rPr lang="en-US" dirty="0"/>
              <a:t>Not yet seen</a:t>
            </a:r>
          </a:p>
          <a:p>
            <a:r>
              <a:rPr lang="en-US" dirty="0"/>
              <a:t>Title and subtitle</a:t>
            </a:r>
          </a:p>
          <a:p>
            <a:r>
              <a:rPr lang="en-US" dirty="0"/>
              <a:t>How many per page without being too busy?</a:t>
            </a:r>
          </a:p>
          <a:p>
            <a:r>
              <a:rPr lang="en-US" dirty="0"/>
              <a:t>Check box to show if video is available</a:t>
            </a:r>
          </a:p>
          <a:p>
            <a:r>
              <a:rPr lang="en-US" dirty="0"/>
              <a:t>Search bar for “intelligent search”</a:t>
            </a:r>
          </a:p>
          <a:p>
            <a:r>
              <a:rPr lang="en-US" dirty="0"/>
              <a:t>Search by name, status, name of submitter, number of comments</a:t>
            </a:r>
          </a:p>
        </p:txBody>
      </p:sp>
    </p:spTree>
    <p:extLst>
      <p:ext uri="{BB962C8B-B14F-4D97-AF65-F5344CB8AC3E}">
        <p14:creationId xmlns:p14="http://schemas.microsoft.com/office/powerpoint/2010/main" val="2297348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0AFA7-DD4D-14E8-1282-F9C120BFC79B}"/>
              </a:ext>
            </a:extLst>
          </p:cNvPr>
          <p:cNvSpPr>
            <a:spLocks noGrp="1"/>
          </p:cNvSpPr>
          <p:nvPr>
            <p:ph type="title"/>
          </p:nvPr>
        </p:nvSpPr>
        <p:spPr/>
        <p:txBody>
          <a:bodyPr/>
          <a:lstStyle/>
          <a:p>
            <a:r>
              <a:rPr lang="en-US" dirty="0"/>
              <a:t>Core Principles</a:t>
            </a:r>
          </a:p>
        </p:txBody>
      </p:sp>
      <p:sp>
        <p:nvSpPr>
          <p:cNvPr id="3" name="Content Placeholder 2">
            <a:extLst>
              <a:ext uri="{FF2B5EF4-FFF2-40B4-BE49-F238E27FC236}">
                <a16:creationId xmlns:a16="http://schemas.microsoft.com/office/drawing/2014/main" id="{CF7CFE73-26A4-5DC7-4752-950C836AFD97}"/>
              </a:ext>
            </a:extLst>
          </p:cNvPr>
          <p:cNvSpPr>
            <a:spLocks noGrp="1"/>
          </p:cNvSpPr>
          <p:nvPr>
            <p:ph idx="1"/>
          </p:nvPr>
        </p:nvSpPr>
        <p:spPr>
          <a:xfrm>
            <a:off x="838200" y="1825625"/>
            <a:ext cx="10515600" cy="4767680"/>
          </a:xfrm>
        </p:spPr>
        <p:txBody>
          <a:bodyPr>
            <a:normAutofit lnSpcReduction="10000"/>
          </a:bodyPr>
          <a:lstStyle/>
          <a:p>
            <a:r>
              <a:rPr lang="en-US" dirty="0"/>
              <a:t>Title</a:t>
            </a:r>
          </a:p>
          <a:p>
            <a:r>
              <a:rPr lang="en-US" dirty="0"/>
              <a:t>Subtitle</a:t>
            </a:r>
          </a:p>
          <a:p>
            <a:r>
              <a:rPr lang="en-US" dirty="0"/>
              <a:t>Detail</a:t>
            </a:r>
          </a:p>
          <a:p>
            <a:r>
              <a:rPr lang="en-US" dirty="0"/>
              <a:t>Hard Questions</a:t>
            </a:r>
          </a:p>
          <a:p>
            <a:r>
              <a:rPr lang="en-US" dirty="0"/>
              <a:t>Take Home Value</a:t>
            </a:r>
          </a:p>
          <a:p>
            <a:r>
              <a:rPr lang="en-US" dirty="0"/>
              <a:t>Check boxes for Full video, Brief summary</a:t>
            </a:r>
          </a:p>
          <a:p>
            <a:r>
              <a:rPr lang="en-US" dirty="0"/>
              <a:t>RTE</a:t>
            </a:r>
          </a:p>
          <a:p>
            <a:pPr lvl="1"/>
            <a:r>
              <a:rPr lang="en-US" dirty="0"/>
              <a:t>Held</a:t>
            </a:r>
          </a:p>
          <a:p>
            <a:pPr lvl="1"/>
            <a:r>
              <a:rPr lang="en-US" dirty="0"/>
              <a:t>Scheduled (option to sign up)</a:t>
            </a:r>
          </a:p>
          <a:p>
            <a:r>
              <a:rPr lang="en-US" dirty="0"/>
              <a:t>Need box to list Owner (need another word) of Principle</a:t>
            </a:r>
          </a:p>
        </p:txBody>
      </p:sp>
    </p:spTree>
    <p:extLst>
      <p:ext uri="{BB962C8B-B14F-4D97-AF65-F5344CB8AC3E}">
        <p14:creationId xmlns:p14="http://schemas.microsoft.com/office/powerpoint/2010/main" val="159803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0AD77-D89F-5E95-8E8A-AACE57195069}"/>
              </a:ext>
            </a:extLst>
          </p:cNvPr>
          <p:cNvSpPr>
            <a:spLocks noGrp="1"/>
          </p:cNvSpPr>
          <p:nvPr>
            <p:ph type="title"/>
          </p:nvPr>
        </p:nvSpPr>
        <p:spPr/>
        <p:txBody>
          <a:bodyPr/>
          <a:lstStyle/>
          <a:p>
            <a:r>
              <a:rPr lang="en-US" dirty="0"/>
              <a:t>Future Events Scheduled</a:t>
            </a:r>
          </a:p>
        </p:txBody>
      </p:sp>
      <p:sp>
        <p:nvSpPr>
          <p:cNvPr id="3" name="Content Placeholder 2">
            <a:extLst>
              <a:ext uri="{FF2B5EF4-FFF2-40B4-BE49-F238E27FC236}">
                <a16:creationId xmlns:a16="http://schemas.microsoft.com/office/drawing/2014/main" id="{1CF5FB68-9131-6E99-4FDC-6BACD6D31E7D}"/>
              </a:ext>
            </a:extLst>
          </p:cNvPr>
          <p:cNvSpPr>
            <a:spLocks noGrp="1"/>
          </p:cNvSpPr>
          <p:nvPr>
            <p:ph idx="1"/>
          </p:nvPr>
        </p:nvSpPr>
        <p:spPr/>
        <p:txBody>
          <a:bodyPr/>
          <a:lstStyle/>
          <a:p>
            <a:r>
              <a:rPr lang="en-US" dirty="0"/>
              <a:t>Default is by calendar days but other sorts available such as:</a:t>
            </a:r>
          </a:p>
          <a:p>
            <a:pPr lvl="1"/>
            <a:r>
              <a:rPr lang="en-US" dirty="0"/>
              <a:t>By type</a:t>
            </a:r>
          </a:p>
          <a:p>
            <a:pPr lvl="2"/>
            <a:r>
              <a:rPr lang="en-US" dirty="0"/>
              <a:t>RTE</a:t>
            </a:r>
          </a:p>
          <a:p>
            <a:pPr lvl="2"/>
            <a:r>
              <a:rPr lang="en-US" dirty="0"/>
              <a:t>Q&amp;A</a:t>
            </a:r>
          </a:p>
          <a:p>
            <a:pPr lvl="2"/>
            <a:r>
              <a:rPr lang="en-US" dirty="0"/>
              <a:t>Forum Event</a:t>
            </a:r>
          </a:p>
          <a:p>
            <a:r>
              <a:rPr lang="en-US" dirty="0"/>
              <a:t>Only highlight those they can attend grey out others</a:t>
            </a:r>
          </a:p>
          <a:p>
            <a:r>
              <a:rPr lang="en-US" dirty="0"/>
              <a:t>Receive email confirmation when they register and day of event</a:t>
            </a:r>
          </a:p>
          <a:p>
            <a:r>
              <a:rPr lang="en-US" dirty="0"/>
              <a:t>Intelligent search bar</a:t>
            </a:r>
          </a:p>
          <a:p>
            <a:r>
              <a:rPr lang="en-US" dirty="0"/>
              <a:t>Do we show previous events? If so for how long?</a:t>
            </a:r>
          </a:p>
        </p:txBody>
      </p:sp>
    </p:spTree>
    <p:extLst>
      <p:ext uri="{BB962C8B-B14F-4D97-AF65-F5344CB8AC3E}">
        <p14:creationId xmlns:p14="http://schemas.microsoft.com/office/powerpoint/2010/main" val="1150069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E5529-9E8B-B4BC-63F8-ACD9086B1A89}"/>
              </a:ext>
            </a:extLst>
          </p:cNvPr>
          <p:cNvSpPr>
            <a:spLocks noGrp="1"/>
          </p:cNvSpPr>
          <p:nvPr>
            <p:ph type="title"/>
          </p:nvPr>
        </p:nvSpPr>
        <p:spPr/>
        <p:txBody>
          <a:bodyPr/>
          <a:lstStyle/>
          <a:p>
            <a:r>
              <a:rPr lang="en-US" dirty="0"/>
              <a:t>Suggest a New Principle</a:t>
            </a:r>
          </a:p>
        </p:txBody>
      </p:sp>
      <p:sp>
        <p:nvSpPr>
          <p:cNvPr id="3" name="Content Placeholder 2">
            <a:extLst>
              <a:ext uri="{FF2B5EF4-FFF2-40B4-BE49-F238E27FC236}">
                <a16:creationId xmlns:a16="http://schemas.microsoft.com/office/drawing/2014/main" id="{443EA740-19BD-29CC-D824-F4EB272E7FEB}"/>
              </a:ext>
            </a:extLst>
          </p:cNvPr>
          <p:cNvSpPr>
            <a:spLocks noGrp="1"/>
          </p:cNvSpPr>
          <p:nvPr>
            <p:ph idx="1"/>
          </p:nvPr>
        </p:nvSpPr>
        <p:spPr/>
        <p:txBody>
          <a:bodyPr>
            <a:normAutofit fontScale="92500" lnSpcReduction="10000"/>
          </a:bodyPr>
          <a:lstStyle/>
          <a:p>
            <a:r>
              <a:rPr lang="en-US" dirty="0"/>
              <a:t>Need a template with mandatory (*) and optional fields</a:t>
            </a:r>
          </a:p>
          <a:p>
            <a:r>
              <a:rPr lang="en-US" dirty="0"/>
              <a:t>Title*</a:t>
            </a:r>
          </a:p>
          <a:p>
            <a:r>
              <a:rPr lang="en-US" dirty="0"/>
              <a:t>Subtitle</a:t>
            </a:r>
          </a:p>
          <a:p>
            <a:r>
              <a:rPr lang="en-US" dirty="0"/>
              <a:t>Description*</a:t>
            </a:r>
          </a:p>
          <a:p>
            <a:r>
              <a:rPr lang="en-US" dirty="0"/>
              <a:t>Hard Questions* (at least one)</a:t>
            </a:r>
          </a:p>
          <a:p>
            <a:r>
              <a:rPr lang="en-US" dirty="0"/>
              <a:t>Take Home Value*</a:t>
            </a:r>
          </a:p>
          <a:p>
            <a:r>
              <a:rPr lang="en-US" dirty="0"/>
              <a:t>Attachments</a:t>
            </a:r>
          </a:p>
          <a:p>
            <a:pPr lvl="1"/>
            <a:r>
              <a:rPr lang="en-US" dirty="0"/>
              <a:t>Video</a:t>
            </a:r>
          </a:p>
          <a:p>
            <a:pPr lvl="1"/>
            <a:r>
              <a:rPr lang="en-US" dirty="0"/>
              <a:t>??</a:t>
            </a:r>
          </a:p>
          <a:p>
            <a:r>
              <a:rPr lang="en-US" dirty="0"/>
              <a:t>Box for name of curator assigned (AI)</a:t>
            </a:r>
          </a:p>
        </p:txBody>
      </p:sp>
    </p:spTree>
    <p:extLst>
      <p:ext uri="{BB962C8B-B14F-4D97-AF65-F5344CB8AC3E}">
        <p14:creationId xmlns:p14="http://schemas.microsoft.com/office/powerpoint/2010/main" val="2981124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727A5-D6D0-BC63-B516-7DDB9F2B36D6}"/>
              </a:ext>
            </a:extLst>
          </p:cNvPr>
          <p:cNvSpPr>
            <a:spLocks noGrp="1"/>
          </p:cNvSpPr>
          <p:nvPr>
            <p:ph type="title"/>
          </p:nvPr>
        </p:nvSpPr>
        <p:spPr/>
        <p:txBody>
          <a:bodyPr/>
          <a:lstStyle/>
          <a:p>
            <a:r>
              <a:rPr lang="en-US" dirty="0"/>
              <a:t>Curate a Principle</a:t>
            </a:r>
          </a:p>
        </p:txBody>
      </p:sp>
      <p:sp>
        <p:nvSpPr>
          <p:cNvPr id="3" name="Content Placeholder 2">
            <a:extLst>
              <a:ext uri="{FF2B5EF4-FFF2-40B4-BE49-F238E27FC236}">
                <a16:creationId xmlns:a16="http://schemas.microsoft.com/office/drawing/2014/main" id="{62C22EEC-EF91-C6F3-DED1-895F7F44B83C}"/>
              </a:ext>
            </a:extLst>
          </p:cNvPr>
          <p:cNvSpPr>
            <a:spLocks noGrp="1"/>
          </p:cNvSpPr>
          <p:nvPr>
            <p:ph idx="1"/>
          </p:nvPr>
        </p:nvSpPr>
        <p:spPr/>
        <p:txBody>
          <a:bodyPr/>
          <a:lstStyle/>
          <a:p>
            <a:r>
              <a:rPr lang="en-US" dirty="0"/>
              <a:t>Intelligent search bar for principles in process</a:t>
            </a:r>
          </a:p>
          <a:p>
            <a:r>
              <a:rPr lang="en-US" dirty="0"/>
              <a:t>See your own principles</a:t>
            </a:r>
          </a:p>
          <a:p>
            <a:pPr lvl="1"/>
            <a:r>
              <a:rPr lang="en-US" dirty="0"/>
              <a:t>See status changes</a:t>
            </a:r>
          </a:p>
          <a:p>
            <a:pPr lvl="1"/>
            <a:r>
              <a:rPr lang="en-US" dirty="0"/>
              <a:t>Curator assigned</a:t>
            </a:r>
          </a:p>
          <a:p>
            <a:pPr lvl="1"/>
            <a:r>
              <a:rPr lang="en-US" dirty="0"/>
              <a:t>Questions</a:t>
            </a:r>
          </a:p>
          <a:p>
            <a:r>
              <a:rPr lang="en-US" dirty="0"/>
              <a:t>See all principles that you are contributing to</a:t>
            </a:r>
          </a:p>
          <a:p>
            <a:r>
              <a:rPr lang="en-US" dirty="0"/>
              <a:t>Some levels can see all principles in process</a:t>
            </a:r>
          </a:p>
          <a:p>
            <a:r>
              <a:rPr lang="en-US" dirty="0"/>
              <a:t>Need to define the process to move from in process to Core Principles. Principles from others interspersed with mine.</a:t>
            </a:r>
          </a:p>
          <a:p>
            <a:endParaRPr lang="en-US" dirty="0"/>
          </a:p>
        </p:txBody>
      </p:sp>
    </p:spTree>
    <p:extLst>
      <p:ext uri="{BB962C8B-B14F-4D97-AF65-F5344CB8AC3E}">
        <p14:creationId xmlns:p14="http://schemas.microsoft.com/office/powerpoint/2010/main" val="2879417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2E7ED-553D-E302-BFE0-811A5731C56C}"/>
              </a:ext>
            </a:extLst>
          </p:cNvPr>
          <p:cNvSpPr>
            <a:spLocks noGrp="1"/>
          </p:cNvSpPr>
          <p:nvPr>
            <p:ph type="title"/>
          </p:nvPr>
        </p:nvSpPr>
        <p:spPr/>
        <p:txBody>
          <a:bodyPr/>
          <a:lstStyle/>
          <a:p>
            <a:r>
              <a:rPr lang="en-US" dirty="0"/>
              <a:t>Register for a Forum</a:t>
            </a:r>
          </a:p>
        </p:txBody>
      </p:sp>
      <p:sp>
        <p:nvSpPr>
          <p:cNvPr id="3" name="Content Placeholder 2">
            <a:extLst>
              <a:ext uri="{FF2B5EF4-FFF2-40B4-BE49-F238E27FC236}">
                <a16:creationId xmlns:a16="http://schemas.microsoft.com/office/drawing/2014/main" id="{29354B6F-2A3E-E941-0F1F-17687390B470}"/>
              </a:ext>
            </a:extLst>
          </p:cNvPr>
          <p:cNvSpPr>
            <a:spLocks noGrp="1"/>
          </p:cNvSpPr>
          <p:nvPr>
            <p:ph idx="1"/>
          </p:nvPr>
        </p:nvSpPr>
        <p:spPr/>
        <p:txBody>
          <a:bodyPr/>
          <a:lstStyle/>
          <a:p>
            <a:r>
              <a:rPr lang="en-US" dirty="0"/>
              <a:t>Drop down list of Forums or Intelligent search bar?</a:t>
            </a:r>
          </a:p>
          <a:p>
            <a:pPr lvl="1"/>
            <a:r>
              <a:rPr lang="en-US" dirty="0"/>
              <a:t>Ongoing</a:t>
            </a:r>
          </a:p>
          <a:p>
            <a:pPr lvl="1"/>
            <a:r>
              <a:rPr lang="en-US" dirty="0"/>
              <a:t>Temporary</a:t>
            </a:r>
          </a:p>
          <a:p>
            <a:r>
              <a:rPr lang="en-US" dirty="0"/>
              <a:t>Box to register</a:t>
            </a:r>
          </a:p>
          <a:p>
            <a:r>
              <a:rPr lang="en-US" dirty="0"/>
              <a:t>Interests</a:t>
            </a:r>
          </a:p>
          <a:p>
            <a:r>
              <a:rPr lang="en-US" dirty="0"/>
              <a:t>Qualifications</a:t>
            </a:r>
          </a:p>
          <a:p>
            <a:r>
              <a:rPr lang="en-US" dirty="0"/>
              <a:t>Accept confidentiality of forum checkbox</a:t>
            </a:r>
          </a:p>
        </p:txBody>
      </p:sp>
    </p:spTree>
    <p:extLst>
      <p:ext uri="{BB962C8B-B14F-4D97-AF65-F5344CB8AC3E}">
        <p14:creationId xmlns:p14="http://schemas.microsoft.com/office/powerpoint/2010/main" val="3430172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0A56-6D59-68F2-2BB6-61BF804CEE1F}"/>
              </a:ext>
            </a:extLst>
          </p:cNvPr>
          <p:cNvSpPr>
            <a:spLocks noGrp="1"/>
          </p:cNvSpPr>
          <p:nvPr>
            <p:ph type="title"/>
          </p:nvPr>
        </p:nvSpPr>
        <p:spPr/>
        <p:txBody>
          <a:bodyPr/>
          <a:lstStyle/>
          <a:p>
            <a:r>
              <a:rPr lang="en-US" dirty="0"/>
              <a:t>Forum Details</a:t>
            </a:r>
          </a:p>
        </p:txBody>
      </p:sp>
      <p:sp>
        <p:nvSpPr>
          <p:cNvPr id="3" name="Content Placeholder 2">
            <a:extLst>
              <a:ext uri="{FF2B5EF4-FFF2-40B4-BE49-F238E27FC236}">
                <a16:creationId xmlns:a16="http://schemas.microsoft.com/office/drawing/2014/main" id="{E78092BF-2E11-F733-96E0-CC759590930E}"/>
              </a:ext>
            </a:extLst>
          </p:cNvPr>
          <p:cNvSpPr>
            <a:spLocks noGrp="1"/>
          </p:cNvSpPr>
          <p:nvPr>
            <p:ph idx="1"/>
          </p:nvPr>
        </p:nvSpPr>
        <p:spPr/>
        <p:txBody>
          <a:bodyPr/>
          <a:lstStyle/>
          <a:p>
            <a:r>
              <a:rPr lang="en-US" dirty="0"/>
              <a:t>Topic</a:t>
            </a:r>
          </a:p>
          <a:p>
            <a:r>
              <a:rPr lang="en-US" dirty="0"/>
              <a:t>Principle or principles referenced</a:t>
            </a:r>
          </a:p>
          <a:p>
            <a:r>
              <a:rPr lang="en-US" dirty="0"/>
              <a:t>Confidentiality conditions</a:t>
            </a:r>
          </a:p>
          <a:p>
            <a:r>
              <a:rPr lang="en-US" dirty="0"/>
              <a:t>Time scheduled</a:t>
            </a:r>
          </a:p>
          <a:p>
            <a:r>
              <a:rPr lang="en-US" dirty="0"/>
              <a:t>Max number of attendees as specified by a mod</a:t>
            </a:r>
          </a:p>
          <a:p>
            <a:r>
              <a:rPr lang="en-US" dirty="0"/>
              <a:t>Auto invite</a:t>
            </a:r>
          </a:p>
          <a:p>
            <a:pPr lvl="1"/>
            <a:r>
              <a:rPr lang="en-US" dirty="0"/>
              <a:t>By credentials</a:t>
            </a:r>
          </a:p>
          <a:p>
            <a:pPr lvl="1"/>
            <a:r>
              <a:rPr lang="en-US" dirty="0"/>
              <a:t>By owner of principle</a:t>
            </a:r>
          </a:p>
          <a:p>
            <a:pPr lvl="1"/>
            <a:r>
              <a:rPr lang="en-US" dirty="0"/>
              <a:t>By liked principles</a:t>
            </a:r>
          </a:p>
        </p:txBody>
      </p:sp>
    </p:spTree>
    <p:extLst>
      <p:ext uri="{BB962C8B-B14F-4D97-AF65-F5344CB8AC3E}">
        <p14:creationId xmlns:p14="http://schemas.microsoft.com/office/powerpoint/2010/main" val="1576450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9303-A31D-07F5-49F4-017BE9B0F11A}"/>
              </a:ext>
            </a:extLst>
          </p:cNvPr>
          <p:cNvSpPr>
            <a:spLocks noGrp="1"/>
          </p:cNvSpPr>
          <p:nvPr>
            <p:ph type="title"/>
          </p:nvPr>
        </p:nvSpPr>
        <p:spPr/>
        <p:txBody>
          <a:bodyPr/>
          <a:lstStyle/>
          <a:p>
            <a:r>
              <a:rPr lang="en-US" dirty="0"/>
              <a:t>How The Application Works</a:t>
            </a:r>
          </a:p>
        </p:txBody>
      </p:sp>
      <p:sp>
        <p:nvSpPr>
          <p:cNvPr id="3" name="Content Placeholder 2">
            <a:extLst>
              <a:ext uri="{FF2B5EF4-FFF2-40B4-BE49-F238E27FC236}">
                <a16:creationId xmlns:a16="http://schemas.microsoft.com/office/drawing/2014/main" id="{F3EF736D-5DD1-023A-4936-D64F5FA35FD6}"/>
              </a:ext>
            </a:extLst>
          </p:cNvPr>
          <p:cNvSpPr>
            <a:spLocks noGrp="1"/>
          </p:cNvSpPr>
          <p:nvPr>
            <p:ph idx="1"/>
          </p:nvPr>
        </p:nvSpPr>
        <p:spPr/>
        <p:txBody>
          <a:bodyPr/>
          <a:lstStyle/>
          <a:p>
            <a:r>
              <a:rPr lang="en-US" dirty="0"/>
              <a:t>Need text here </a:t>
            </a:r>
          </a:p>
          <a:p>
            <a:r>
              <a:rPr lang="en-US" dirty="0"/>
              <a:t>Need a video explaining and walking through the screens</a:t>
            </a:r>
          </a:p>
          <a:p>
            <a:endParaRPr lang="en-US" dirty="0"/>
          </a:p>
        </p:txBody>
      </p:sp>
    </p:spTree>
    <p:extLst>
      <p:ext uri="{BB962C8B-B14F-4D97-AF65-F5344CB8AC3E}">
        <p14:creationId xmlns:p14="http://schemas.microsoft.com/office/powerpoint/2010/main" val="931150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A3A02-D4E1-0042-FD30-55141B2B5B0E}"/>
              </a:ext>
            </a:extLst>
          </p:cNvPr>
          <p:cNvSpPr>
            <a:spLocks noGrp="1"/>
          </p:cNvSpPr>
          <p:nvPr>
            <p:ph type="title"/>
          </p:nvPr>
        </p:nvSpPr>
        <p:spPr/>
        <p:txBody>
          <a:bodyPr/>
          <a:lstStyle/>
          <a:p>
            <a:r>
              <a:rPr lang="en-US" dirty="0"/>
              <a:t>STOD Credits</a:t>
            </a:r>
          </a:p>
        </p:txBody>
      </p:sp>
      <p:sp>
        <p:nvSpPr>
          <p:cNvPr id="3" name="Content Placeholder 2">
            <a:extLst>
              <a:ext uri="{FF2B5EF4-FFF2-40B4-BE49-F238E27FC236}">
                <a16:creationId xmlns:a16="http://schemas.microsoft.com/office/drawing/2014/main" id="{7E802532-8652-468F-B205-C54A66E41BAA}"/>
              </a:ext>
            </a:extLst>
          </p:cNvPr>
          <p:cNvSpPr>
            <a:spLocks noGrp="1"/>
          </p:cNvSpPr>
          <p:nvPr>
            <p:ph idx="1"/>
          </p:nvPr>
        </p:nvSpPr>
        <p:spPr/>
        <p:txBody>
          <a:bodyPr/>
          <a:lstStyle/>
          <a:p>
            <a:r>
              <a:rPr lang="en-US" dirty="0"/>
              <a:t>Show current number</a:t>
            </a:r>
          </a:p>
          <a:p>
            <a:r>
              <a:rPr lang="en-US" dirty="0"/>
              <a:t>Enable purchase of credits</a:t>
            </a:r>
          </a:p>
          <a:p>
            <a:r>
              <a:rPr lang="en-US" dirty="0"/>
              <a:t>Need to enable purchases from site of credits, subscriptions, </a:t>
            </a:r>
            <a:r>
              <a:rPr lang="en-US" dirty="0" err="1"/>
              <a:t>ste.</a:t>
            </a:r>
            <a:endParaRPr lang="en-US" dirty="0"/>
          </a:p>
        </p:txBody>
      </p:sp>
    </p:spTree>
    <p:extLst>
      <p:ext uri="{BB962C8B-B14F-4D97-AF65-F5344CB8AC3E}">
        <p14:creationId xmlns:p14="http://schemas.microsoft.com/office/powerpoint/2010/main" val="3541012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AD003-8F97-CA0A-7909-669A42E64A05}"/>
              </a:ext>
            </a:extLst>
          </p:cNvPr>
          <p:cNvSpPr>
            <a:spLocks noGrp="1"/>
          </p:cNvSpPr>
          <p:nvPr>
            <p:ph type="title"/>
          </p:nvPr>
        </p:nvSpPr>
        <p:spPr/>
        <p:txBody>
          <a:bodyPr/>
          <a:lstStyle/>
          <a:p>
            <a:r>
              <a:rPr lang="en-US" dirty="0"/>
              <a:t>Artificial Intelligence Differentiation</a:t>
            </a:r>
          </a:p>
        </p:txBody>
      </p:sp>
      <p:sp>
        <p:nvSpPr>
          <p:cNvPr id="3" name="Content Placeholder 2">
            <a:extLst>
              <a:ext uri="{FF2B5EF4-FFF2-40B4-BE49-F238E27FC236}">
                <a16:creationId xmlns:a16="http://schemas.microsoft.com/office/drawing/2014/main" id="{BCAADBA5-8E4B-AD8A-C83D-A8A72976D30E}"/>
              </a:ext>
            </a:extLst>
          </p:cNvPr>
          <p:cNvSpPr>
            <a:spLocks noGrp="1"/>
          </p:cNvSpPr>
          <p:nvPr>
            <p:ph idx="1"/>
          </p:nvPr>
        </p:nvSpPr>
        <p:spPr/>
        <p:txBody>
          <a:bodyPr/>
          <a:lstStyle/>
          <a:p>
            <a:r>
              <a:rPr lang="en-US" dirty="0"/>
              <a:t>Return the closest topics in search</a:t>
            </a:r>
          </a:p>
          <a:p>
            <a:r>
              <a:rPr lang="en-US" dirty="0"/>
              <a:t>Find related principles</a:t>
            </a:r>
          </a:p>
          <a:p>
            <a:r>
              <a:rPr lang="en-US" dirty="0"/>
              <a:t>Auto reject principles that are similar to others even if the titles suggest novel wording</a:t>
            </a:r>
          </a:p>
          <a:p>
            <a:r>
              <a:rPr lang="en-US" dirty="0"/>
              <a:t>Tool to instantiate the Dissonance Matrix</a:t>
            </a:r>
          </a:p>
          <a:p>
            <a:endParaRPr lang="en-US" dirty="0"/>
          </a:p>
        </p:txBody>
      </p:sp>
    </p:spTree>
    <p:extLst>
      <p:ext uri="{BB962C8B-B14F-4D97-AF65-F5344CB8AC3E}">
        <p14:creationId xmlns:p14="http://schemas.microsoft.com/office/powerpoint/2010/main" val="3658000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107A0-82DD-BCE5-AC98-0265DA6363AB}"/>
              </a:ext>
            </a:extLst>
          </p:cNvPr>
          <p:cNvSpPr>
            <a:spLocks noGrp="1"/>
          </p:cNvSpPr>
          <p:nvPr>
            <p:ph type="title"/>
          </p:nvPr>
        </p:nvSpPr>
        <p:spPr/>
        <p:txBody>
          <a:bodyPr/>
          <a:lstStyle/>
          <a:p>
            <a:r>
              <a:rPr lang="en-US" dirty="0"/>
              <a:t>Dissonance Matrix Tool</a:t>
            </a:r>
          </a:p>
        </p:txBody>
      </p:sp>
      <p:sp>
        <p:nvSpPr>
          <p:cNvPr id="3" name="Content Placeholder 2">
            <a:extLst>
              <a:ext uri="{FF2B5EF4-FFF2-40B4-BE49-F238E27FC236}">
                <a16:creationId xmlns:a16="http://schemas.microsoft.com/office/drawing/2014/main" id="{273F3A6A-1F4F-88C1-8AFD-23A127C4ECEC}"/>
              </a:ext>
            </a:extLst>
          </p:cNvPr>
          <p:cNvSpPr>
            <a:spLocks noGrp="1"/>
          </p:cNvSpPr>
          <p:nvPr>
            <p:ph idx="1"/>
          </p:nvPr>
        </p:nvSpPr>
        <p:spPr/>
        <p:txBody>
          <a:bodyPr/>
          <a:lstStyle/>
          <a:p>
            <a:r>
              <a:rPr lang="en-US" dirty="0"/>
              <a:t>How should I brand the upper right hand quadrant (</a:t>
            </a:r>
            <a:r>
              <a:rPr lang="en-US" dirty="0" err="1"/>
              <a:t>yes,yes</a:t>
            </a:r>
            <a:r>
              <a:rPr lang="en-US" dirty="0"/>
              <a:t>)?</a:t>
            </a:r>
          </a:p>
        </p:txBody>
      </p:sp>
    </p:spTree>
    <p:extLst>
      <p:ext uri="{BB962C8B-B14F-4D97-AF65-F5344CB8AC3E}">
        <p14:creationId xmlns:p14="http://schemas.microsoft.com/office/powerpoint/2010/main" val="22863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3552</TotalTime>
  <Words>580</Words>
  <Application>Microsoft Macintosh PowerPoint</Application>
  <PresentationFormat>Widescreen</PresentationFormat>
  <Paragraphs>111</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Same Thing Only Different</vt:lpstr>
      <vt:lpstr>Validation screen (might be part of first screen)</vt:lpstr>
      <vt:lpstr>Core Principles</vt:lpstr>
      <vt:lpstr>Core Principles</vt:lpstr>
      <vt:lpstr>Core Principles</vt:lpstr>
      <vt:lpstr>Future Events Scheduled</vt:lpstr>
      <vt:lpstr>Suggest a New Principle</vt:lpstr>
      <vt:lpstr>Curate a Principle</vt:lpstr>
      <vt:lpstr>Register for a Forum</vt:lpstr>
      <vt:lpstr>Forum Details</vt:lpstr>
      <vt:lpstr>How The Application Works</vt:lpstr>
      <vt:lpstr>STOD Credits</vt:lpstr>
      <vt:lpstr>Artificial Intelligence Differentiation</vt:lpstr>
      <vt:lpstr>Dissonance Matrix Tool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 Jobs’ Garage</dc:title>
  <dc:creator>Judson Kennedy</dc:creator>
  <cp:lastModifiedBy>Anne Kennedy</cp:lastModifiedBy>
  <cp:revision>123</cp:revision>
  <cp:lastPrinted>2025-12-12T00:53:49Z</cp:lastPrinted>
  <dcterms:created xsi:type="dcterms:W3CDTF">2023-03-29T02:04:54Z</dcterms:created>
  <dcterms:modified xsi:type="dcterms:W3CDTF">2025-12-12T00:55:14Z</dcterms:modified>
</cp:coreProperties>
</file>