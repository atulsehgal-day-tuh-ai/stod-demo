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3"/>
  </p:notesMasterIdLst>
  <p:sldIdLst>
    <p:sldId id="285" r:id="rId2"/>
    <p:sldId id="305" r:id="rId3"/>
    <p:sldId id="306" r:id="rId4"/>
    <p:sldId id="279" r:id="rId5"/>
    <p:sldId id="297" r:id="rId6"/>
    <p:sldId id="280" r:id="rId7"/>
    <p:sldId id="310" r:id="rId8"/>
    <p:sldId id="312" r:id="rId9"/>
    <p:sldId id="313" r:id="rId10"/>
    <p:sldId id="304" r:id="rId11"/>
    <p:sldId id="276" r:id="rId12"/>
    <p:sldId id="286" r:id="rId13"/>
    <p:sldId id="301" r:id="rId14"/>
    <p:sldId id="287" r:id="rId15"/>
    <p:sldId id="294" r:id="rId16"/>
    <p:sldId id="299" r:id="rId17"/>
    <p:sldId id="288" r:id="rId18"/>
    <p:sldId id="296" r:id="rId19"/>
    <p:sldId id="289" r:id="rId20"/>
    <p:sldId id="298" r:id="rId21"/>
    <p:sldId id="290" r:id="rId22"/>
    <p:sldId id="303" r:id="rId23"/>
    <p:sldId id="291" r:id="rId24"/>
    <p:sldId id="292" r:id="rId25"/>
    <p:sldId id="293" r:id="rId26"/>
    <p:sldId id="302" r:id="rId27"/>
    <p:sldId id="308" r:id="rId28"/>
    <p:sldId id="283" r:id="rId29"/>
    <p:sldId id="309" r:id="rId30"/>
    <p:sldId id="307" r:id="rId31"/>
    <p:sldId id="28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26"/>
    <p:restoredTop sz="88369"/>
  </p:normalViewPr>
  <p:slideViewPr>
    <p:cSldViewPr snapToGrid="0">
      <p:cViewPr varScale="1">
        <p:scale>
          <a:sx n="103" d="100"/>
          <a:sy n="103" d="100"/>
        </p:scale>
        <p:origin x="648" y="176"/>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A93A3C-7248-44F5-B0B3-ADC087A3DF91}" type="doc">
      <dgm:prSet loTypeId="urn:microsoft.com/office/officeart/2016/7/layout/BasicLinearProcessNumbered" loCatId="process" qsTypeId="urn:microsoft.com/office/officeart/2005/8/quickstyle/simple1" qsCatId="simple" csTypeId="urn:microsoft.com/office/officeart/2005/8/colors/colorful1" csCatId="colorful" phldr="1"/>
      <dgm:spPr/>
      <dgm:t>
        <a:bodyPr/>
        <a:lstStyle/>
        <a:p>
          <a:endParaRPr lang="en-US"/>
        </a:p>
      </dgm:t>
    </dgm:pt>
    <dgm:pt modelId="{7E64120C-1D50-4CA2-A5EF-4BCC9E6AEE26}">
      <dgm:prSet/>
      <dgm:spPr/>
      <dgm:t>
        <a:bodyPr/>
        <a:lstStyle/>
        <a:p>
          <a:r>
            <a:rPr lang="en-US" baseline="0" dirty="0"/>
            <a:t>Write the first draft that includes each section</a:t>
          </a:r>
          <a:endParaRPr lang="en-US" dirty="0"/>
        </a:p>
      </dgm:t>
    </dgm:pt>
    <dgm:pt modelId="{CD0E9B20-4212-41C5-8F0B-ACDDBA97DBE2}" type="parTrans" cxnId="{DBF7D8DD-E14B-431C-9D28-0C132E73AF96}">
      <dgm:prSet/>
      <dgm:spPr/>
      <dgm:t>
        <a:bodyPr/>
        <a:lstStyle/>
        <a:p>
          <a:endParaRPr lang="en-US"/>
        </a:p>
      </dgm:t>
    </dgm:pt>
    <dgm:pt modelId="{BC455870-7BF0-46D9-8C43-55C8F69B087D}" type="sibTrans" cxnId="{DBF7D8DD-E14B-431C-9D28-0C132E73AF96}">
      <dgm:prSet phldrT="1" phldr="0"/>
      <dgm:spPr/>
      <dgm:t>
        <a:bodyPr/>
        <a:lstStyle/>
        <a:p>
          <a:r>
            <a:rPr lang="en-US"/>
            <a:t>1</a:t>
          </a:r>
        </a:p>
      </dgm:t>
    </dgm:pt>
    <dgm:pt modelId="{8715511E-D9D6-4133-9625-E3C552DC546E}">
      <dgm:prSet/>
      <dgm:spPr/>
      <dgm:t>
        <a:bodyPr/>
        <a:lstStyle/>
        <a:p>
          <a:r>
            <a:rPr lang="en-US" baseline="0" dirty="0"/>
            <a:t>Assign the principle to a curator who makes a preliminary decision</a:t>
          </a:r>
          <a:endParaRPr lang="en-US" dirty="0"/>
        </a:p>
      </dgm:t>
    </dgm:pt>
    <dgm:pt modelId="{BF04EBA7-16AF-4DB2-BCD6-44E59F9C5162}" type="parTrans" cxnId="{E13229BD-C055-45EB-8A51-E6E4953D0FFB}">
      <dgm:prSet/>
      <dgm:spPr/>
      <dgm:t>
        <a:bodyPr/>
        <a:lstStyle/>
        <a:p>
          <a:endParaRPr lang="en-US"/>
        </a:p>
      </dgm:t>
    </dgm:pt>
    <dgm:pt modelId="{C2EEF832-1251-46A8-9CB6-1609CA9950BE}" type="sibTrans" cxnId="{E13229BD-C055-45EB-8A51-E6E4953D0FFB}">
      <dgm:prSet phldrT="2" phldr="0"/>
      <dgm:spPr/>
      <dgm:t>
        <a:bodyPr/>
        <a:lstStyle/>
        <a:p>
          <a:r>
            <a:rPr lang="en-US"/>
            <a:t>2</a:t>
          </a:r>
        </a:p>
      </dgm:t>
    </dgm:pt>
    <dgm:pt modelId="{D09BB7B7-DCC6-46C8-AFE5-AACB8288F4A2}">
      <dgm:prSet/>
      <dgm:spPr/>
      <dgm:t>
        <a:bodyPr/>
        <a:lstStyle/>
        <a:p>
          <a:r>
            <a:rPr lang="en-US" baseline="0" dirty="0"/>
            <a:t>Author iterates with curator to produce a Principle For Discussion (PFD)</a:t>
          </a:r>
          <a:endParaRPr lang="en-US" dirty="0"/>
        </a:p>
      </dgm:t>
    </dgm:pt>
    <dgm:pt modelId="{6A97F18B-197E-424D-A7E9-EDD72B59AF29}" type="parTrans" cxnId="{EB5DC7E7-C93F-463D-B8A9-1E6AD6540B93}">
      <dgm:prSet/>
      <dgm:spPr/>
      <dgm:t>
        <a:bodyPr/>
        <a:lstStyle/>
        <a:p>
          <a:endParaRPr lang="en-US"/>
        </a:p>
      </dgm:t>
    </dgm:pt>
    <dgm:pt modelId="{F32C6E12-4F80-40CB-8C24-50C8ED032399}" type="sibTrans" cxnId="{EB5DC7E7-C93F-463D-B8A9-1E6AD6540B93}">
      <dgm:prSet phldrT="3" phldr="0"/>
      <dgm:spPr/>
      <dgm:t>
        <a:bodyPr/>
        <a:lstStyle/>
        <a:p>
          <a:r>
            <a:rPr lang="en-US"/>
            <a:t>3</a:t>
          </a:r>
        </a:p>
      </dgm:t>
    </dgm:pt>
    <dgm:pt modelId="{20CA6734-5883-43D7-A365-83696DF3D33B}">
      <dgm:prSet/>
      <dgm:spPr/>
      <dgm:t>
        <a:bodyPr/>
        <a:lstStyle/>
        <a:p>
          <a:r>
            <a:rPr lang="en-US" baseline="0"/>
            <a:t>Post PFD on site for comments</a:t>
          </a:r>
          <a:endParaRPr lang="en-US"/>
        </a:p>
      </dgm:t>
    </dgm:pt>
    <dgm:pt modelId="{5492B978-41BD-4079-BCA9-BEA1FFBCF0FA}" type="parTrans" cxnId="{1B75E495-8754-4A74-B97F-6085FE1A69E4}">
      <dgm:prSet/>
      <dgm:spPr/>
      <dgm:t>
        <a:bodyPr/>
        <a:lstStyle/>
        <a:p>
          <a:endParaRPr lang="en-US"/>
        </a:p>
      </dgm:t>
    </dgm:pt>
    <dgm:pt modelId="{F98FF654-D747-4D3F-B6C5-8EBD0C265752}" type="sibTrans" cxnId="{1B75E495-8754-4A74-B97F-6085FE1A69E4}">
      <dgm:prSet phldrT="4" phldr="0"/>
      <dgm:spPr/>
      <dgm:t>
        <a:bodyPr/>
        <a:lstStyle/>
        <a:p>
          <a:r>
            <a:rPr lang="en-US"/>
            <a:t>4</a:t>
          </a:r>
        </a:p>
      </dgm:t>
    </dgm:pt>
    <dgm:pt modelId="{7F334408-2E91-4468-B682-1377BBC8AD10}">
      <dgm:prSet/>
      <dgm:spPr/>
      <dgm:t>
        <a:bodyPr/>
        <a:lstStyle/>
        <a:p>
          <a:r>
            <a:rPr lang="en-US" baseline="0" dirty="0"/>
            <a:t>Hold a Real Time presentation and a Q and A session in which the owner presents their principle and the group asks questions or makes comments</a:t>
          </a:r>
          <a:endParaRPr lang="en-US" dirty="0"/>
        </a:p>
      </dgm:t>
    </dgm:pt>
    <dgm:pt modelId="{A7A9A28C-579F-49A6-845B-F9AF43619B1D}" type="parTrans" cxnId="{330EFFBB-9276-4E73-AEAE-AE24FD59BD6F}">
      <dgm:prSet/>
      <dgm:spPr/>
      <dgm:t>
        <a:bodyPr/>
        <a:lstStyle/>
        <a:p>
          <a:endParaRPr lang="en-US"/>
        </a:p>
      </dgm:t>
    </dgm:pt>
    <dgm:pt modelId="{87A8E0FE-395A-46E4-9987-982EE6E06366}" type="sibTrans" cxnId="{330EFFBB-9276-4E73-AEAE-AE24FD59BD6F}">
      <dgm:prSet phldrT="5" phldr="0"/>
      <dgm:spPr/>
      <dgm:t>
        <a:bodyPr/>
        <a:lstStyle/>
        <a:p>
          <a:r>
            <a:rPr lang="en-US"/>
            <a:t>5</a:t>
          </a:r>
        </a:p>
      </dgm:t>
    </dgm:pt>
    <dgm:pt modelId="{1758A0B1-CE58-4547-AD6A-AADE90FBFA2F}">
      <dgm:prSet/>
      <dgm:spPr/>
      <dgm:t>
        <a:bodyPr/>
        <a:lstStyle/>
        <a:p>
          <a:r>
            <a:rPr lang="en-US" baseline="0" dirty="0"/>
            <a:t>Post Final curated version of the Universal Principle</a:t>
          </a:r>
          <a:endParaRPr lang="en-US" dirty="0"/>
        </a:p>
      </dgm:t>
    </dgm:pt>
    <dgm:pt modelId="{72BA1FAC-C85C-43EB-855E-7F0F1A085051}" type="parTrans" cxnId="{1B949AF5-694E-406F-BF23-F1C56D5D7269}">
      <dgm:prSet/>
      <dgm:spPr/>
      <dgm:t>
        <a:bodyPr/>
        <a:lstStyle/>
        <a:p>
          <a:endParaRPr lang="en-US"/>
        </a:p>
      </dgm:t>
    </dgm:pt>
    <dgm:pt modelId="{836A7A1A-6BE2-4222-87C4-1181A00C1D1A}" type="sibTrans" cxnId="{1B949AF5-694E-406F-BF23-F1C56D5D7269}">
      <dgm:prSet phldrT="6" phldr="0"/>
      <dgm:spPr/>
      <dgm:t>
        <a:bodyPr/>
        <a:lstStyle/>
        <a:p>
          <a:r>
            <a:rPr lang="en-US"/>
            <a:t>6</a:t>
          </a:r>
        </a:p>
      </dgm:t>
    </dgm:pt>
    <dgm:pt modelId="{3DE8B989-9C1C-43FD-BE29-A231B491E972}">
      <dgm:prSet/>
      <dgm:spPr/>
      <dgm:t>
        <a:bodyPr/>
        <a:lstStyle/>
        <a:p>
          <a:r>
            <a:rPr lang="en-US" baseline="0" dirty="0"/>
            <a:t>Hold a Real-Time that is recorded and posted along with the principle (optional)</a:t>
          </a:r>
          <a:endParaRPr lang="en-US" dirty="0"/>
        </a:p>
      </dgm:t>
    </dgm:pt>
    <dgm:pt modelId="{016E3101-EF14-4F96-81FE-AB7C64E1FDC0}" type="parTrans" cxnId="{AA72C083-E933-4611-8FE5-99C575F7F275}">
      <dgm:prSet/>
      <dgm:spPr/>
      <dgm:t>
        <a:bodyPr/>
        <a:lstStyle/>
        <a:p>
          <a:endParaRPr lang="en-US"/>
        </a:p>
      </dgm:t>
    </dgm:pt>
    <dgm:pt modelId="{95F58D5E-11E8-4FAC-9C6F-5CB009E49496}" type="sibTrans" cxnId="{AA72C083-E933-4611-8FE5-99C575F7F275}">
      <dgm:prSet phldrT="7" phldr="0"/>
      <dgm:spPr/>
      <dgm:t>
        <a:bodyPr/>
        <a:lstStyle/>
        <a:p>
          <a:r>
            <a:rPr lang="en-US"/>
            <a:t>7</a:t>
          </a:r>
        </a:p>
      </dgm:t>
    </dgm:pt>
    <dgm:pt modelId="{1133072F-786D-4FCB-985F-660E332C455F}">
      <dgm:prSet/>
      <dgm:spPr/>
      <dgm:t>
        <a:bodyPr/>
        <a:lstStyle/>
        <a:p>
          <a:r>
            <a:rPr lang="en-US" baseline="0" dirty="0"/>
            <a:t>Author poses one or more hard questions. Updates the principle as needed or answers ongoing questions </a:t>
          </a:r>
          <a:endParaRPr lang="en-US" dirty="0"/>
        </a:p>
      </dgm:t>
    </dgm:pt>
    <dgm:pt modelId="{61A7C46C-0868-4030-9E91-11F52FCF4DBB}" type="parTrans" cxnId="{1B608F7F-9F1A-4205-8594-3AEB6C4F026C}">
      <dgm:prSet/>
      <dgm:spPr/>
      <dgm:t>
        <a:bodyPr/>
        <a:lstStyle/>
        <a:p>
          <a:endParaRPr lang="en-US"/>
        </a:p>
      </dgm:t>
    </dgm:pt>
    <dgm:pt modelId="{5030A96D-089C-41F3-9C21-BB7D5A0DD813}" type="sibTrans" cxnId="{1B608F7F-9F1A-4205-8594-3AEB6C4F026C}">
      <dgm:prSet phldrT="8" phldr="0"/>
      <dgm:spPr/>
      <dgm:t>
        <a:bodyPr/>
        <a:lstStyle/>
        <a:p>
          <a:r>
            <a:rPr lang="en-US"/>
            <a:t>8</a:t>
          </a:r>
          <a:endParaRPr lang="en-US" dirty="0"/>
        </a:p>
      </dgm:t>
    </dgm:pt>
    <dgm:pt modelId="{0192D632-74B6-964C-BD97-F0195BFC8506}" type="pres">
      <dgm:prSet presAssocID="{15A93A3C-7248-44F5-B0B3-ADC087A3DF91}" presName="Name0" presStyleCnt="0">
        <dgm:presLayoutVars>
          <dgm:animLvl val="lvl"/>
          <dgm:resizeHandles val="exact"/>
        </dgm:presLayoutVars>
      </dgm:prSet>
      <dgm:spPr/>
    </dgm:pt>
    <dgm:pt modelId="{C19197B3-5C06-D349-99F2-D00556508C98}" type="pres">
      <dgm:prSet presAssocID="{7E64120C-1D50-4CA2-A5EF-4BCC9E6AEE26}" presName="compositeNode" presStyleCnt="0">
        <dgm:presLayoutVars>
          <dgm:bulletEnabled val="1"/>
        </dgm:presLayoutVars>
      </dgm:prSet>
      <dgm:spPr/>
    </dgm:pt>
    <dgm:pt modelId="{0957B97E-A34D-B64C-A190-2AEE75445FF0}" type="pres">
      <dgm:prSet presAssocID="{7E64120C-1D50-4CA2-A5EF-4BCC9E6AEE26}" presName="bgRect" presStyleLbl="bgAccFollowNode1" presStyleIdx="0" presStyleCnt="8" custScaleY="231953" custLinFactNeighborX="-282" custLinFactNeighborY="42056"/>
      <dgm:spPr/>
    </dgm:pt>
    <dgm:pt modelId="{34EF71D1-64C6-3645-8268-7E490297B151}" type="pres">
      <dgm:prSet presAssocID="{BC455870-7BF0-46D9-8C43-55C8F69B087D}" presName="sibTransNodeCircle" presStyleLbl="alignNode1" presStyleIdx="0" presStyleCnt="16">
        <dgm:presLayoutVars>
          <dgm:chMax val="0"/>
          <dgm:bulletEnabled/>
        </dgm:presLayoutVars>
      </dgm:prSet>
      <dgm:spPr/>
    </dgm:pt>
    <dgm:pt modelId="{D2514EE4-A1D6-4349-929B-7699689E624C}" type="pres">
      <dgm:prSet presAssocID="{7E64120C-1D50-4CA2-A5EF-4BCC9E6AEE26}" presName="bottomLine" presStyleLbl="alignNode1" presStyleIdx="1" presStyleCnt="16">
        <dgm:presLayoutVars/>
      </dgm:prSet>
      <dgm:spPr/>
    </dgm:pt>
    <dgm:pt modelId="{609810BE-D41F-5245-8399-9A1C2F6851EE}" type="pres">
      <dgm:prSet presAssocID="{7E64120C-1D50-4CA2-A5EF-4BCC9E6AEE26}" presName="nodeText" presStyleLbl="bgAccFollowNode1" presStyleIdx="0" presStyleCnt="8">
        <dgm:presLayoutVars>
          <dgm:bulletEnabled val="1"/>
        </dgm:presLayoutVars>
      </dgm:prSet>
      <dgm:spPr/>
    </dgm:pt>
    <dgm:pt modelId="{D3A0EE03-79A2-A840-B27B-A7F46A4162E5}" type="pres">
      <dgm:prSet presAssocID="{BC455870-7BF0-46D9-8C43-55C8F69B087D}" presName="sibTrans" presStyleCnt="0"/>
      <dgm:spPr/>
    </dgm:pt>
    <dgm:pt modelId="{E2629BC1-7B5F-A24B-A594-42A035098983}" type="pres">
      <dgm:prSet presAssocID="{8715511E-D9D6-4133-9625-E3C552DC546E}" presName="compositeNode" presStyleCnt="0">
        <dgm:presLayoutVars>
          <dgm:bulletEnabled val="1"/>
        </dgm:presLayoutVars>
      </dgm:prSet>
      <dgm:spPr/>
    </dgm:pt>
    <dgm:pt modelId="{D9817B15-E492-0F43-9CC6-7808D135DCEB}" type="pres">
      <dgm:prSet presAssocID="{8715511E-D9D6-4133-9625-E3C552DC546E}" presName="bgRect" presStyleLbl="bgAccFollowNode1" presStyleIdx="1" presStyleCnt="8" custScaleY="231953"/>
      <dgm:spPr/>
    </dgm:pt>
    <dgm:pt modelId="{3DBBEE3F-4E9A-0145-BC0B-832FA4F326E5}" type="pres">
      <dgm:prSet presAssocID="{C2EEF832-1251-46A8-9CB6-1609CA9950BE}" presName="sibTransNodeCircle" presStyleLbl="alignNode1" presStyleIdx="2" presStyleCnt="16">
        <dgm:presLayoutVars>
          <dgm:chMax val="0"/>
          <dgm:bulletEnabled/>
        </dgm:presLayoutVars>
      </dgm:prSet>
      <dgm:spPr/>
    </dgm:pt>
    <dgm:pt modelId="{7950F8CE-73C1-A64F-B0EB-01944C992425}" type="pres">
      <dgm:prSet presAssocID="{8715511E-D9D6-4133-9625-E3C552DC546E}" presName="bottomLine" presStyleLbl="alignNode1" presStyleIdx="3" presStyleCnt="16">
        <dgm:presLayoutVars/>
      </dgm:prSet>
      <dgm:spPr/>
    </dgm:pt>
    <dgm:pt modelId="{27EC5F04-EBEE-1142-B35F-B67E929F1FB9}" type="pres">
      <dgm:prSet presAssocID="{8715511E-D9D6-4133-9625-E3C552DC546E}" presName="nodeText" presStyleLbl="bgAccFollowNode1" presStyleIdx="1" presStyleCnt="8">
        <dgm:presLayoutVars>
          <dgm:bulletEnabled val="1"/>
        </dgm:presLayoutVars>
      </dgm:prSet>
      <dgm:spPr/>
    </dgm:pt>
    <dgm:pt modelId="{34884FDB-6CFC-9F4D-8B78-97058FD16EBD}" type="pres">
      <dgm:prSet presAssocID="{C2EEF832-1251-46A8-9CB6-1609CA9950BE}" presName="sibTrans" presStyleCnt="0"/>
      <dgm:spPr/>
    </dgm:pt>
    <dgm:pt modelId="{DBFD1DD1-48D1-2445-8BDD-EF45DD7A573F}" type="pres">
      <dgm:prSet presAssocID="{D09BB7B7-DCC6-46C8-AFE5-AACB8288F4A2}" presName="compositeNode" presStyleCnt="0">
        <dgm:presLayoutVars>
          <dgm:bulletEnabled val="1"/>
        </dgm:presLayoutVars>
      </dgm:prSet>
      <dgm:spPr/>
    </dgm:pt>
    <dgm:pt modelId="{9EFBC0BA-861F-474D-9A7A-773F722764CC}" type="pres">
      <dgm:prSet presAssocID="{D09BB7B7-DCC6-46C8-AFE5-AACB8288F4A2}" presName="bgRect" presStyleLbl="bgAccFollowNode1" presStyleIdx="2" presStyleCnt="8" custScaleY="231953"/>
      <dgm:spPr/>
    </dgm:pt>
    <dgm:pt modelId="{60072649-4426-B24B-9878-29A4956F61D3}" type="pres">
      <dgm:prSet presAssocID="{F32C6E12-4F80-40CB-8C24-50C8ED032399}" presName="sibTransNodeCircle" presStyleLbl="alignNode1" presStyleIdx="4" presStyleCnt="16">
        <dgm:presLayoutVars>
          <dgm:chMax val="0"/>
          <dgm:bulletEnabled/>
        </dgm:presLayoutVars>
      </dgm:prSet>
      <dgm:spPr/>
    </dgm:pt>
    <dgm:pt modelId="{F9A34117-27FD-0941-A4B7-3367335C2BB0}" type="pres">
      <dgm:prSet presAssocID="{D09BB7B7-DCC6-46C8-AFE5-AACB8288F4A2}" presName="bottomLine" presStyleLbl="alignNode1" presStyleIdx="5" presStyleCnt="16">
        <dgm:presLayoutVars/>
      </dgm:prSet>
      <dgm:spPr/>
    </dgm:pt>
    <dgm:pt modelId="{B360369B-56A9-0F49-8EDC-C10A226429CA}" type="pres">
      <dgm:prSet presAssocID="{D09BB7B7-DCC6-46C8-AFE5-AACB8288F4A2}" presName="nodeText" presStyleLbl="bgAccFollowNode1" presStyleIdx="2" presStyleCnt="8">
        <dgm:presLayoutVars>
          <dgm:bulletEnabled val="1"/>
        </dgm:presLayoutVars>
      </dgm:prSet>
      <dgm:spPr/>
    </dgm:pt>
    <dgm:pt modelId="{37D2C064-9D26-4946-9643-81F792525C2B}" type="pres">
      <dgm:prSet presAssocID="{F32C6E12-4F80-40CB-8C24-50C8ED032399}" presName="sibTrans" presStyleCnt="0"/>
      <dgm:spPr/>
    </dgm:pt>
    <dgm:pt modelId="{E1A8A61C-4446-DC47-961D-C78DFCADE990}" type="pres">
      <dgm:prSet presAssocID="{20CA6734-5883-43D7-A365-83696DF3D33B}" presName="compositeNode" presStyleCnt="0">
        <dgm:presLayoutVars>
          <dgm:bulletEnabled val="1"/>
        </dgm:presLayoutVars>
      </dgm:prSet>
      <dgm:spPr/>
    </dgm:pt>
    <dgm:pt modelId="{97273567-9E3D-3B48-BFA8-32A60C22006D}" type="pres">
      <dgm:prSet presAssocID="{20CA6734-5883-43D7-A365-83696DF3D33B}" presName="bgRect" presStyleLbl="bgAccFollowNode1" presStyleIdx="3" presStyleCnt="8" custScaleY="231953" custLinFactNeighborX="-15127" custLinFactNeighborY="69414"/>
      <dgm:spPr/>
    </dgm:pt>
    <dgm:pt modelId="{67309974-EB63-CA4D-AA7A-3FC14A6D50DB}" type="pres">
      <dgm:prSet presAssocID="{F98FF654-D747-4D3F-B6C5-8EBD0C265752}" presName="sibTransNodeCircle" presStyleLbl="alignNode1" presStyleIdx="6" presStyleCnt="16">
        <dgm:presLayoutVars>
          <dgm:chMax val="0"/>
          <dgm:bulletEnabled/>
        </dgm:presLayoutVars>
      </dgm:prSet>
      <dgm:spPr/>
    </dgm:pt>
    <dgm:pt modelId="{A22E44C6-E61D-034D-9FD9-98388F0B11EE}" type="pres">
      <dgm:prSet presAssocID="{20CA6734-5883-43D7-A365-83696DF3D33B}" presName="bottomLine" presStyleLbl="alignNode1" presStyleIdx="7" presStyleCnt="16">
        <dgm:presLayoutVars/>
      </dgm:prSet>
      <dgm:spPr/>
    </dgm:pt>
    <dgm:pt modelId="{410A1883-2707-5C47-8383-918C4ED7911B}" type="pres">
      <dgm:prSet presAssocID="{20CA6734-5883-43D7-A365-83696DF3D33B}" presName="nodeText" presStyleLbl="bgAccFollowNode1" presStyleIdx="3" presStyleCnt="8">
        <dgm:presLayoutVars>
          <dgm:bulletEnabled val="1"/>
        </dgm:presLayoutVars>
      </dgm:prSet>
      <dgm:spPr/>
    </dgm:pt>
    <dgm:pt modelId="{A14DE9BF-B64A-2A41-9D2E-F0E870A82B4F}" type="pres">
      <dgm:prSet presAssocID="{F98FF654-D747-4D3F-B6C5-8EBD0C265752}" presName="sibTrans" presStyleCnt="0"/>
      <dgm:spPr/>
    </dgm:pt>
    <dgm:pt modelId="{1A0139F7-9BDD-A249-963F-F7700F6D34A8}" type="pres">
      <dgm:prSet presAssocID="{7F334408-2E91-4468-B682-1377BBC8AD10}" presName="compositeNode" presStyleCnt="0">
        <dgm:presLayoutVars>
          <dgm:bulletEnabled val="1"/>
        </dgm:presLayoutVars>
      </dgm:prSet>
      <dgm:spPr/>
    </dgm:pt>
    <dgm:pt modelId="{9103F4B7-745B-3747-B015-DC8CB78E8F0F}" type="pres">
      <dgm:prSet presAssocID="{7F334408-2E91-4468-B682-1377BBC8AD10}" presName="bgRect" presStyleLbl="bgAccFollowNode1" presStyleIdx="4" presStyleCnt="8" custScaleY="231953"/>
      <dgm:spPr/>
    </dgm:pt>
    <dgm:pt modelId="{AB32AC8A-A23E-E147-B929-A402E245F4EF}" type="pres">
      <dgm:prSet presAssocID="{87A8E0FE-395A-46E4-9987-982EE6E06366}" presName="sibTransNodeCircle" presStyleLbl="alignNode1" presStyleIdx="8" presStyleCnt="16">
        <dgm:presLayoutVars>
          <dgm:chMax val="0"/>
          <dgm:bulletEnabled/>
        </dgm:presLayoutVars>
      </dgm:prSet>
      <dgm:spPr/>
    </dgm:pt>
    <dgm:pt modelId="{1E1A9946-49CD-0145-8441-A6E5398F743F}" type="pres">
      <dgm:prSet presAssocID="{7F334408-2E91-4468-B682-1377BBC8AD10}" presName="bottomLine" presStyleLbl="alignNode1" presStyleIdx="9" presStyleCnt="16">
        <dgm:presLayoutVars/>
      </dgm:prSet>
      <dgm:spPr/>
    </dgm:pt>
    <dgm:pt modelId="{CDC18622-0911-9346-88EF-F76AEC81DB3F}" type="pres">
      <dgm:prSet presAssocID="{7F334408-2E91-4468-B682-1377BBC8AD10}" presName="nodeText" presStyleLbl="bgAccFollowNode1" presStyleIdx="4" presStyleCnt="8">
        <dgm:presLayoutVars>
          <dgm:bulletEnabled val="1"/>
        </dgm:presLayoutVars>
      </dgm:prSet>
      <dgm:spPr/>
    </dgm:pt>
    <dgm:pt modelId="{02BED10E-5F79-2445-B445-84C76CF5ACC9}" type="pres">
      <dgm:prSet presAssocID="{87A8E0FE-395A-46E4-9987-982EE6E06366}" presName="sibTrans" presStyleCnt="0"/>
      <dgm:spPr/>
    </dgm:pt>
    <dgm:pt modelId="{B2D5EB3B-63D2-A442-8AE9-6E43F842F469}" type="pres">
      <dgm:prSet presAssocID="{1758A0B1-CE58-4547-AD6A-AADE90FBFA2F}" presName="compositeNode" presStyleCnt="0">
        <dgm:presLayoutVars>
          <dgm:bulletEnabled val="1"/>
        </dgm:presLayoutVars>
      </dgm:prSet>
      <dgm:spPr/>
    </dgm:pt>
    <dgm:pt modelId="{99F36648-299B-3049-A86B-CB62FB1DAFD9}" type="pres">
      <dgm:prSet presAssocID="{1758A0B1-CE58-4547-AD6A-AADE90FBFA2F}" presName="bgRect" presStyleLbl="bgAccFollowNode1" presStyleIdx="5" presStyleCnt="8" custScaleY="231953" custLinFactY="24452" custLinFactNeighborX="-2403" custLinFactNeighborY="100000"/>
      <dgm:spPr/>
    </dgm:pt>
    <dgm:pt modelId="{35E1E2F7-1080-5F46-AC9E-40448292817A}" type="pres">
      <dgm:prSet presAssocID="{836A7A1A-6BE2-4222-87C4-1181A00C1D1A}" presName="sibTransNodeCircle" presStyleLbl="alignNode1" presStyleIdx="10" presStyleCnt="16">
        <dgm:presLayoutVars>
          <dgm:chMax val="0"/>
          <dgm:bulletEnabled/>
        </dgm:presLayoutVars>
      </dgm:prSet>
      <dgm:spPr/>
    </dgm:pt>
    <dgm:pt modelId="{C89515A6-C660-004E-905C-1BD8BCA8DC3B}" type="pres">
      <dgm:prSet presAssocID="{1758A0B1-CE58-4547-AD6A-AADE90FBFA2F}" presName="bottomLine" presStyleLbl="alignNode1" presStyleIdx="11" presStyleCnt="16" custScaleY="2000000" custLinFactY="1371200000" custLinFactNeighborX="-12016" custLinFactNeighborY="1371263889">
        <dgm:presLayoutVars/>
      </dgm:prSet>
      <dgm:spPr/>
    </dgm:pt>
    <dgm:pt modelId="{521F7E2F-EDFD-5147-B8EC-4096F1FE29EC}" type="pres">
      <dgm:prSet presAssocID="{1758A0B1-CE58-4547-AD6A-AADE90FBFA2F}" presName="nodeText" presStyleLbl="bgAccFollowNode1" presStyleIdx="5" presStyleCnt="8">
        <dgm:presLayoutVars>
          <dgm:bulletEnabled val="1"/>
        </dgm:presLayoutVars>
      </dgm:prSet>
      <dgm:spPr/>
    </dgm:pt>
    <dgm:pt modelId="{FB04A8FF-C4CC-BA41-9531-0CD0C086AA49}" type="pres">
      <dgm:prSet presAssocID="{836A7A1A-6BE2-4222-87C4-1181A00C1D1A}" presName="sibTrans" presStyleCnt="0"/>
      <dgm:spPr/>
    </dgm:pt>
    <dgm:pt modelId="{F634E42F-D47D-4E43-A30C-162FDB869FC1}" type="pres">
      <dgm:prSet presAssocID="{3DE8B989-9C1C-43FD-BE29-A231B491E972}" presName="compositeNode" presStyleCnt="0">
        <dgm:presLayoutVars>
          <dgm:bulletEnabled val="1"/>
        </dgm:presLayoutVars>
      </dgm:prSet>
      <dgm:spPr/>
    </dgm:pt>
    <dgm:pt modelId="{B8973AE8-6582-E84D-BB98-047D7A4EEF11}" type="pres">
      <dgm:prSet presAssocID="{3DE8B989-9C1C-43FD-BE29-A231B491E972}" presName="bgRect" presStyleLbl="bgAccFollowNode1" presStyleIdx="6" presStyleCnt="8" custScaleY="231953"/>
      <dgm:spPr/>
    </dgm:pt>
    <dgm:pt modelId="{113C0A2C-293E-754E-8B54-EF025B66B08F}" type="pres">
      <dgm:prSet presAssocID="{95F58D5E-11E8-4FAC-9C6F-5CB009E49496}" presName="sibTransNodeCircle" presStyleLbl="alignNode1" presStyleIdx="12" presStyleCnt="16">
        <dgm:presLayoutVars>
          <dgm:chMax val="0"/>
          <dgm:bulletEnabled/>
        </dgm:presLayoutVars>
      </dgm:prSet>
      <dgm:spPr/>
    </dgm:pt>
    <dgm:pt modelId="{1E583C8D-0B64-9D40-A4F6-501080447CBF}" type="pres">
      <dgm:prSet presAssocID="{3DE8B989-9C1C-43FD-BE29-A231B491E972}" presName="bottomLine" presStyleLbl="alignNode1" presStyleIdx="13" presStyleCnt="16" custLinFactY="1398800000" custLinFactNeighborX="-8411" custLinFactNeighborY="1398881944">
        <dgm:presLayoutVars/>
      </dgm:prSet>
      <dgm:spPr/>
    </dgm:pt>
    <dgm:pt modelId="{C03DE7E7-98F3-404F-9850-EC157949F845}" type="pres">
      <dgm:prSet presAssocID="{3DE8B989-9C1C-43FD-BE29-A231B491E972}" presName="nodeText" presStyleLbl="bgAccFollowNode1" presStyleIdx="6" presStyleCnt="8">
        <dgm:presLayoutVars>
          <dgm:bulletEnabled val="1"/>
        </dgm:presLayoutVars>
      </dgm:prSet>
      <dgm:spPr/>
    </dgm:pt>
    <dgm:pt modelId="{0F0B05A7-FE62-1744-AA86-BA35F76804C5}" type="pres">
      <dgm:prSet presAssocID="{95F58D5E-11E8-4FAC-9C6F-5CB009E49496}" presName="sibTrans" presStyleCnt="0"/>
      <dgm:spPr/>
    </dgm:pt>
    <dgm:pt modelId="{7190332E-8462-3C47-886E-DA931B2DA177}" type="pres">
      <dgm:prSet presAssocID="{1133072F-786D-4FCB-985F-660E332C455F}" presName="compositeNode" presStyleCnt="0">
        <dgm:presLayoutVars>
          <dgm:bulletEnabled val="1"/>
        </dgm:presLayoutVars>
      </dgm:prSet>
      <dgm:spPr/>
    </dgm:pt>
    <dgm:pt modelId="{B793ADA9-BDF2-AF48-B186-5FD834211CC1}" type="pres">
      <dgm:prSet presAssocID="{1133072F-786D-4FCB-985F-660E332C455F}" presName="bgRect" presStyleLbl="bgAccFollowNode1" presStyleIdx="7" presStyleCnt="8" custScaleY="231953"/>
      <dgm:spPr/>
    </dgm:pt>
    <dgm:pt modelId="{8685B940-9C15-584E-9DD2-AC37977F7F67}" type="pres">
      <dgm:prSet presAssocID="{5030A96D-089C-41F3-9C21-BB7D5A0DD813}" presName="sibTransNodeCircle" presStyleLbl="alignNode1" presStyleIdx="14" presStyleCnt="16">
        <dgm:presLayoutVars>
          <dgm:chMax val="0"/>
          <dgm:bulletEnabled/>
        </dgm:presLayoutVars>
      </dgm:prSet>
      <dgm:spPr/>
    </dgm:pt>
    <dgm:pt modelId="{E9A330A4-1E15-004E-A0C4-9B1E7025D4AC}" type="pres">
      <dgm:prSet presAssocID="{1133072F-786D-4FCB-985F-660E332C455F}" presName="bottomLine" presStyleLbl="alignNode1" presStyleIdx="15" presStyleCnt="16">
        <dgm:presLayoutVars/>
      </dgm:prSet>
      <dgm:spPr/>
    </dgm:pt>
    <dgm:pt modelId="{D4EC5C34-B19B-7546-A246-55F2C814F8A4}" type="pres">
      <dgm:prSet presAssocID="{1133072F-786D-4FCB-985F-660E332C455F}" presName="nodeText" presStyleLbl="bgAccFollowNode1" presStyleIdx="7" presStyleCnt="8">
        <dgm:presLayoutVars>
          <dgm:bulletEnabled val="1"/>
        </dgm:presLayoutVars>
      </dgm:prSet>
      <dgm:spPr/>
    </dgm:pt>
  </dgm:ptLst>
  <dgm:cxnLst>
    <dgm:cxn modelId="{00F1930D-D219-664B-A973-2FC6D3C7D864}" type="presOf" srcId="{BC455870-7BF0-46D9-8C43-55C8F69B087D}" destId="{34EF71D1-64C6-3645-8268-7E490297B151}" srcOrd="0" destOrd="0" presId="urn:microsoft.com/office/officeart/2016/7/layout/BasicLinearProcessNumbered"/>
    <dgm:cxn modelId="{E8711317-9A05-F841-8747-AEE6CFDEDC28}" type="presOf" srcId="{3DE8B989-9C1C-43FD-BE29-A231B491E972}" destId="{C03DE7E7-98F3-404F-9850-EC157949F845}" srcOrd="1" destOrd="0" presId="urn:microsoft.com/office/officeart/2016/7/layout/BasicLinearProcessNumbered"/>
    <dgm:cxn modelId="{0ECF7F28-6962-2E4F-9857-F8A4D37B8349}" type="presOf" srcId="{8715511E-D9D6-4133-9625-E3C552DC546E}" destId="{27EC5F04-EBEE-1142-B35F-B67E929F1FB9}" srcOrd="1" destOrd="0" presId="urn:microsoft.com/office/officeart/2016/7/layout/BasicLinearProcessNumbered"/>
    <dgm:cxn modelId="{CA28272E-22AF-CB42-8305-ED7151EE0686}" type="presOf" srcId="{7F334408-2E91-4468-B682-1377BBC8AD10}" destId="{CDC18622-0911-9346-88EF-F76AEC81DB3F}" srcOrd="1" destOrd="0" presId="urn:microsoft.com/office/officeart/2016/7/layout/BasicLinearProcessNumbered"/>
    <dgm:cxn modelId="{B46B692F-A57A-DD41-A9A9-FA7FA7878191}" type="presOf" srcId="{7E64120C-1D50-4CA2-A5EF-4BCC9E6AEE26}" destId="{0957B97E-A34D-B64C-A190-2AEE75445FF0}" srcOrd="0" destOrd="0" presId="urn:microsoft.com/office/officeart/2016/7/layout/BasicLinearProcessNumbered"/>
    <dgm:cxn modelId="{80B90831-7A7B-DB4D-A92A-176EC7222EB4}" type="presOf" srcId="{F32C6E12-4F80-40CB-8C24-50C8ED032399}" destId="{60072649-4426-B24B-9878-29A4956F61D3}" srcOrd="0" destOrd="0" presId="urn:microsoft.com/office/officeart/2016/7/layout/BasicLinearProcessNumbered"/>
    <dgm:cxn modelId="{3B85AD36-BA07-DD4C-8CA6-E69B53E3C5FA}" type="presOf" srcId="{7F334408-2E91-4468-B682-1377BBC8AD10}" destId="{9103F4B7-745B-3747-B015-DC8CB78E8F0F}" srcOrd="0" destOrd="0" presId="urn:microsoft.com/office/officeart/2016/7/layout/BasicLinearProcessNumbered"/>
    <dgm:cxn modelId="{40791F38-FD86-1041-B1A7-9582BA1288D3}" type="presOf" srcId="{20CA6734-5883-43D7-A365-83696DF3D33B}" destId="{97273567-9E3D-3B48-BFA8-32A60C22006D}" srcOrd="0" destOrd="0" presId="urn:microsoft.com/office/officeart/2016/7/layout/BasicLinearProcessNumbered"/>
    <dgm:cxn modelId="{EA98D243-1ED6-B449-84D0-AB588FD72A17}" type="presOf" srcId="{1133072F-786D-4FCB-985F-660E332C455F}" destId="{D4EC5C34-B19B-7546-A246-55F2C814F8A4}" srcOrd="1" destOrd="0" presId="urn:microsoft.com/office/officeart/2016/7/layout/BasicLinearProcessNumbered"/>
    <dgm:cxn modelId="{1493F348-1C8E-054B-8692-2B7387B44F04}" type="presOf" srcId="{8715511E-D9D6-4133-9625-E3C552DC546E}" destId="{D9817B15-E492-0F43-9CC6-7808D135DCEB}" srcOrd="0" destOrd="0" presId="urn:microsoft.com/office/officeart/2016/7/layout/BasicLinearProcessNumbered"/>
    <dgm:cxn modelId="{ED34E461-7FB2-2344-ABE0-3BDFDD03BE1C}" type="presOf" srcId="{3DE8B989-9C1C-43FD-BE29-A231B491E972}" destId="{B8973AE8-6582-E84D-BB98-047D7A4EEF11}" srcOrd="0" destOrd="0" presId="urn:microsoft.com/office/officeart/2016/7/layout/BasicLinearProcessNumbered"/>
    <dgm:cxn modelId="{01185A7F-A97B-5C44-8733-B23BDE8614F5}" type="presOf" srcId="{1758A0B1-CE58-4547-AD6A-AADE90FBFA2F}" destId="{521F7E2F-EDFD-5147-B8EC-4096F1FE29EC}" srcOrd="1" destOrd="0" presId="urn:microsoft.com/office/officeart/2016/7/layout/BasicLinearProcessNumbered"/>
    <dgm:cxn modelId="{1B608F7F-9F1A-4205-8594-3AEB6C4F026C}" srcId="{15A93A3C-7248-44F5-B0B3-ADC087A3DF91}" destId="{1133072F-786D-4FCB-985F-660E332C455F}" srcOrd="7" destOrd="0" parTransId="{61A7C46C-0868-4030-9E91-11F52FCF4DBB}" sibTransId="{5030A96D-089C-41F3-9C21-BB7D5A0DD813}"/>
    <dgm:cxn modelId="{B6D7987F-10B8-BD43-8ABF-1527E0A02565}" type="presOf" srcId="{95F58D5E-11E8-4FAC-9C6F-5CB009E49496}" destId="{113C0A2C-293E-754E-8B54-EF025B66B08F}" srcOrd="0" destOrd="0" presId="urn:microsoft.com/office/officeart/2016/7/layout/BasicLinearProcessNumbered"/>
    <dgm:cxn modelId="{6E641081-FBC2-7649-B503-817B022807D5}" type="presOf" srcId="{C2EEF832-1251-46A8-9CB6-1609CA9950BE}" destId="{3DBBEE3F-4E9A-0145-BC0B-832FA4F326E5}" srcOrd="0" destOrd="0" presId="urn:microsoft.com/office/officeart/2016/7/layout/BasicLinearProcessNumbered"/>
    <dgm:cxn modelId="{AA72C083-E933-4611-8FE5-99C575F7F275}" srcId="{15A93A3C-7248-44F5-B0B3-ADC087A3DF91}" destId="{3DE8B989-9C1C-43FD-BE29-A231B491E972}" srcOrd="6" destOrd="0" parTransId="{016E3101-EF14-4F96-81FE-AB7C64E1FDC0}" sibTransId="{95F58D5E-11E8-4FAC-9C6F-5CB009E49496}"/>
    <dgm:cxn modelId="{B15AA985-3C78-474B-B6EE-0939B037EE4B}" type="presOf" srcId="{87A8E0FE-395A-46E4-9987-982EE6E06366}" destId="{AB32AC8A-A23E-E147-B929-A402E245F4EF}" srcOrd="0" destOrd="0" presId="urn:microsoft.com/office/officeart/2016/7/layout/BasicLinearProcessNumbered"/>
    <dgm:cxn modelId="{BB85B687-01D2-714B-ACF5-EA5735F115D9}" type="presOf" srcId="{5030A96D-089C-41F3-9C21-BB7D5A0DD813}" destId="{8685B940-9C15-584E-9DD2-AC37977F7F67}" srcOrd="0" destOrd="0" presId="urn:microsoft.com/office/officeart/2016/7/layout/BasicLinearProcessNumbered"/>
    <dgm:cxn modelId="{448C708A-6728-564B-9958-7B31B83AFFCD}" type="presOf" srcId="{F98FF654-D747-4D3F-B6C5-8EBD0C265752}" destId="{67309974-EB63-CA4D-AA7A-3FC14A6D50DB}" srcOrd="0" destOrd="0" presId="urn:microsoft.com/office/officeart/2016/7/layout/BasicLinearProcessNumbered"/>
    <dgm:cxn modelId="{1B75E495-8754-4A74-B97F-6085FE1A69E4}" srcId="{15A93A3C-7248-44F5-B0B3-ADC087A3DF91}" destId="{20CA6734-5883-43D7-A365-83696DF3D33B}" srcOrd="3" destOrd="0" parTransId="{5492B978-41BD-4079-BCA9-BEA1FFBCF0FA}" sibTransId="{F98FF654-D747-4D3F-B6C5-8EBD0C265752}"/>
    <dgm:cxn modelId="{1C1FCEA4-A594-B74D-8178-585BDD7A5C90}" type="presOf" srcId="{1133072F-786D-4FCB-985F-660E332C455F}" destId="{B793ADA9-BDF2-AF48-B186-5FD834211CC1}" srcOrd="0" destOrd="0" presId="urn:microsoft.com/office/officeart/2016/7/layout/BasicLinearProcessNumbered"/>
    <dgm:cxn modelId="{5C5DE0B0-0562-A747-89BB-9BC9FFBBB609}" type="presOf" srcId="{20CA6734-5883-43D7-A365-83696DF3D33B}" destId="{410A1883-2707-5C47-8383-918C4ED7911B}" srcOrd="1" destOrd="0" presId="urn:microsoft.com/office/officeart/2016/7/layout/BasicLinearProcessNumbered"/>
    <dgm:cxn modelId="{3C7D59B3-D7A2-AB4E-A1EB-27D5E0452BA9}" type="presOf" srcId="{D09BB7B7-DCC6-46C8-AFE5-AACB8288F4A2}" destId="{9EFBC0BA-861F-474D-9A7A-773F722764CC}" srcOrd="0" destOrd="0" presId="urn:microsoft.com/office/officeart/2016/7/layout/BasicLinearProcessNumbered"/>
    <dgm:cxn modelId="{330EFFBB-9276-4E73-AEAE-AE24FD59BD6F}" srcId="{15A93A3C-7248-44F5-B0B3-ADC087A3DF91}" destId="{7F334408-2E91-4468-B682-1377BBC8AD10}" srcOrd="4" destOrd="0" parTransId="{A7A9A28C-579F-49A6-845B-F9AF43619B1D}" sibTransId="{87A8E0FE-395A-46E4-9987-982EE6E06366}"/>
    <dgm:cxn modelId="{E13229BD-C055-45EB-8A51-E6E4953D0FFB}" srcId="{15A93A3C-7248-44F5-B0B3-ADC087A3DF91}" destId="{8715511E-D9D6-4133-9625-E3C552DC546E}" srcOrd="1" destOrd="0" parTransId="{BF04EBA7-16AF-4DB2-BCD6-44E59F9C5162}" sibTransId="{C2EEF832-1251-46A8-9CB6-1609CA9950BE}"/>
    <dgm:cxn modelId="{D7A73AD8-CDDC-9744-A522-BB97803A9378}" type="presOf" srcId="{7E64120C-1D50-4CA2-A5EF-4BCC9E6AEE26}" destId="{609810BE-D41F-5245-8399-9A1C2F6851EE}" srcOrd="1" destOrd="0" presId="urn:microsoft.com/office/officeart/2016/7/layout/BasicLinearProcessNumbered"/>
    <dgm:cxn modelId="{DBF7D8DD-E14B-431C-9D28-0C132E73AF96}" srcId="{15A93A3C-7248-44F5-B0B3-ADC087A3DF91}" destId="{7E64120C-1D50-4CA2-A5EF-4BCC9E6AEE26}" srcOrd="0" destOrd="0" parTransId="{CD0E9B20-4212-41C5-8F0B-ACDDBA97DBE2}" sibTransId="{BC455870-7BF0-46D9-8C43-55C8F69B087D}"/>
    <dgm:cxn modelId="{EB5DC7E7-C93F-463D-B8A9-1E6AD6540B93}" srcId="{15A93A3C-7248-44F5-B0B3-ADC087A3DF91}" destId="{D09BB7B7-DCC6-46C8-AFE5-AACB8288F4A2}" srcOrd="2" destOrd="0" parTransId="{6A97F18B-197E-424D-A7E9-EDD72B59AF29}" sibTransId="{F32C6E12-4F80-40CB-8C24-50C8ED032399}"/>
    <dgm:cxn modelId="{BF195BEE-6242-7542-B234-ED30EE728BE6}" type="presOf" srcId="{15A93A3C-7248-44F5-B0B3-ADC087A3DF91}" destId="{0192D632-74B6-964C-BD97-F0195BFC8506}" srcOrd="0" destOrd="0" presId="urn:microsoft.com/office/officeart/2016/7/layout/BasicLinearProcessNumbered"/>
    <dgm:cxn modelId="{447147F0-CBB6-DE4E-8BEB-6DD85B003811}" type="presOf" srcId="{D09BB7B7-DCC6-46C8-AFE5-AACB8288F4A2}" destId="{B360369B-56A9-0F49-8EDC-C10A226429CA}" srcOrd="1" destOrd="0" presId="urn:microsoft.com/office/officeart/2016/7/layout/BasicLinearProcessNumbered"/>
    <dgm:cxn modelId="{1B949AF5-694E-406F-BF23-F1C56D5D7269}" srcId="{15A93A3C-7248-44F5-B0B3-ADC087A3DF91}" destId="{1758A0B1-CE58-4547-AD6A-AADE90FBFA2F}" srcOrd="5" destOrd="0" parTransId="{72BA1FAC-C85C-43EB-855E-7F0F1A085051}" sibTransId="{836A7A1A-6BE2-4222-87C4-1181A00C1D1A}"/>
    <dgm:cxn modelId="{AE3F90FD-F908-D34A-9177-B7DA106C7273}" type="presOf" srcId="{836A7A1A-6BE2-4222-87C4-1181A00C1D1A}" destId="{35E1E2F7-1080-5F46-AC9E-40448292817A}" srcOrd="0" destOrd="0" presId="urn:microsoft.com/office/officeart/2016/7/layout/BasicLinearProcessNumbered"/>
    <dgm:cxn modelId="{07E4F8FF-1543-8748-ACEB-E2B2022B6175}" type="presOf" srcId="{1758A0B1-CE58-4547-AD6A-AADE90FBFA2F}" destId="{99F36648-299B-3049-A86B-CB62FB1DAFD9}" srcOrd="0" destOrd="0" presId="urn:microsoft.com/office/officeart/2016/7/layout/BasicLinearProcessNumbered"/>
    <dgm:cxn modelId="{CF7BED84-F07D-8043-BCDF-81095A401E46}" type="presParOf" srcId="{0192D632-74B6-964C-BD97-F0195BFC8506}" destId="{C19197B3-5C06-D349-99F2-D00556508C98}" srcOrd="0" destOrd="0" presId="urn:microsoft.com/office/officeart/2016/7/layout/BasicLinearProcessNumbered"/>
    <dgm:cxn modelId="{75D2E564-7303-B444-9436-2DF7494DA033}" type="presParOf" srcId="{C19197B3-5C06-D349-99F2-D00556508C98}" destId="{0957B97E-A34D-B64C-A190-2AEE75445FF0}" srcOrd="0" destOrd="0" presId="urn:microsoft.com/office/officeart/2016/7/layout/BasicLinearProcessNumbered"/>
    <dgm:cxn modelId="{C647D23F-3677-8144-87D5-6296503D4105}" type="presParOf" srcId="{C19197B3-5C06-D349-99F2-D00556508C98}" destId="{34EF71D1-64C6-3645-8268-7E490297B151}" srcOrd="1" destOrd="0" presId="urn:microsoft.com/office/officeart/2016/7/layout/BasicLinearProcessNumbered"/>
    <dgm:cxn modelId="{B471EA6D-A5BF-0846-874E-C8C3DEC52646}" type="presParOf" srcId="{C19197B3-5C06-D349-99F2-D00556508C98}" destId="{D2514EE4-A1D6-4349-929B-7699689E624C}" srcOrd="2" destOrd="0" presId="urn:microsoft.com/office/officeart/2016/7/layout/BasicLinearProcessNumbered"/>
    <dgm:cxn modelId="{D074CF58-A349-BD4B-B99C-08B70D796F17}" type="presParOf" srcId="{C19197B3-5C06-D349-99F2-D00556508C98}" destId="{609810BE-D41F-5245-8399-9A1C2F6851EE}" srcOrd="3" destOrd="0" presId="urn:microsoft.com/office/officeart/2016/7/layout/BasicLinearProcessNumbered"/>
    <dgm:cxn modelId="{904EA5CA-6856-EF43-9232-85DF525D23FF}" type="presParOf" srcId="{0192D632-74B6-964C-BD97-F0195BFC8506}" destId="{D3A0EE03-79A2-A840-B27B-A7F46A4162E5}" srcOrd="1" destOrd="0" presId="urn:microsoft.com/office/officeart/2016/7/layout/BasicLinearProcessNumbered"/>
    <dgm:cxn modelId="{DC5E5D3C-D931-834A-BAA6-79F4894F0E02}" type="presParOf" srcId="{0192D632-74B6-964C-BD97-F0195BFC8506}" destId="{E2629BC1-7B5F-A24B-A594-42A035098983}" srcOrd="2" destOrd="0" presId="urn:microsoft.com/office/officeart/2016/7/layout/BasicLinearProcessNumbered"/>
    <dgm:cxn modelId="{C2E3036D-B3A6-2D4D-9787-58874F19DF47}" type="presParOf" srcId="{E2629BC1-7B5F-A24B-A594-42A035098983}" destId="{D9817B15-E492-0F43-9CC6-7808D135DCEB}" srcOrd="0" destOrd="0" presId="urn:microsoft.com/office/officeart/2016/7/layout/BasicLinearProcessNumbered"/>
    <dgm:cxn modelId="{0A3184DA-E962-4248-85FB-6E38DA3EFD9A}" type="presParOf" srcId="{E2629BC1-7B5F-A24B-A594-42A035098983}" destId="{3DBBEE3F-4E9A-0145-BC0B-832FA4F326E5}" srcOrd="1" destOrd="0" presId="urn:microsoft.com/office/officeart/2016/7/layout/BasicLinearProcessNumbered"/>
    <dgm:cxn modelId="{4330B202-8909-CB4C-9134-35578E5D4068}" type="presParOf" srcId="{E2629BC1-7B5F-A24B-A594-42A035098983}" destId="{7950F8CE-73C1-A64F-B0EB-01944C992425}" srcOrd="2" destOrd="0" presId="urn:microsoft.com/office/officeart/2016/7/layout/BasicLinearProcessNumbered"/>
    <dgm:cxn modelId="{F0446977-EBA1-3A45-848D-A002AEF7F98A}" type="presParOf" srcId="{E2629BC1-7B5F-A24B-A594-42A035098983}" destId="{27EC5F04-EBEE-1142-B35F-B67E929F1FB9}" srcOrd="3" destOrd="0" presId="urn:microsoft.com/office/officeart/2016/7/layout/BasicLinearProcessNumbered"/>
    <dgm:cxn modelId="{871F4FA3-BB07-5540-A82F-0FC4C1D2C2F1}" type="presParOf" srcId="{0192D632-74B6-964C-BD97-F0195BFC8506}" destId="{34884FDB-6CFC-9F4D-8B78-97058FD16EBD}" srcOrd="3" destOrd="0" presId="urn:microsoft.com/office/officeart/2016/7/layout/BasicLinearProcessNumbered"/>
    <dgm:cxn modelId="{6B3B4F1B-D1F9-9545-9F5C-0E9DE4067B6D}" type="presParOf" srcId="{0192D632-74B6-964C-BD97-F0195BFC8506}" destId="{DBFD1DD1-48D1-2445-8BDD-EF45DD7A573F}" srcOrd="4" destOrd="0" presId="urn:microsoft.com/office/officeart/2016/7/layout/BasicLinearProcessNumbered"/>
    <dgm:cxn modelId="{51178331-C1A8-1045-BA12-0D0CAB15DDDA}" type="presParOf" srcId="{DBFD1DD1-48D1-2445-8BDD-EF45DD7A573F}" destId="{9EFBC0BA-861F-474D-9A7A-773F722764CC}" srcOrd="0" destOrd="0" presId="urn:microsoft.com/office/officeart/2016/7/layout/BasicLinearProcessNumbered"/>
    <dgm:cxn modelId="{BA504C0F-90EA-214A-973D-E9A15E204BBB}" type="presParOf" srcId="{DBFD1DD1-48D1-2445-8BDD-EF45DD7A573F}" destId="{60072649-4426-B24B-9878-29A4956F61D3}" srcOrd="1" destOrd="0" presId="urn:microsoft.com/office/officeart/2016/7/layout/BasicLinearProcessNumbered"/>
    <dgm:cxn modelId="{1BF23419-E5F7-A84D-BDEC-32028452CC47}" type="presParOf" srcId="{DBFD1DD1-48D1-2445-8BDD-EF45DD7A573F}" destId="{F9A34117-27FD-0941-A4B7-3367335C2BB0}" srcOrd="2" destOrd="0" presId="urn:microsoft.com/office/officeart/2016/7/layout/BasicLinearProcessNumbered"/>
    <dgm:cxn modelId="{8EAFE07F-C906-9840-8C04-00DC0BADA928}" type="presParOf" srcId="{DBFD1DD1-48D1-2445-8BDD-EF45DD7A573F}" destId="{B360369B-56A9-0F49-8EDC-C10A226429CA}" srcOrd="3" destOrd="0" presId="urn:microsoft.com/office/officeart/2016/7/layout/BasicLinearProcessNumbered"/>
    <dgm:cxn modelId="{F4F5257D-40AE-E049-A12B-3DB6DB962DDB}" type="presParOf" srcId="{0192D632-74B6-964C-BD97-F0195BFC8506}" destId="{37D2C064-9D26-4946-9643-81F792525C2B}" srcOrd="5" destOrd="0" presId="urn:microsoft.com/office/officeart/2016/7/layout/BasicLinearProcessNumbered"/>
    <dgm:cxn modelId="{B5D5E1D5-71E3-D44C-AB41-9F41F1B3C4B8}" type="presParOf" srcId="{0192D632-74B6-964C-BD97-F0195BFC8506}" destId="{E1A8A61C-4446-DC47-961D-C78DFCADE990}" srcOrd="6" destOrd="0" presId="urn:microsoft.com/office/officeart/2016/7/layout/BasicLinearProcessNumbered"/>
    <dgm:cxn modelId="{F8E67CC1-8288-8445-8D3B-BCF960C7B2C7}" type="presParOf" srcId="{E1A8A61C-4446-DC47-961D-C78DFCADE990}" destId="{97273567-9E3D-3B48-BFA8-32A60C22006D}" srcOrd="0" destOrd="0" presId="urn:microsoft.com/office/officeart/2016/7/layout/BasicLinearProcessNumbered"/>
    <dgm:cxn modelId="{71EFCDF5-E8FD-0D4C-95F3-93CEF2BD9F82}" type="presParOf" srcId="{E1A8A61C-4446-DC47-961D-C78DFCADE990}" destId="{67309974-EB63-CA4D-AA7A-3FC14A6D50DB}" srcOrd="1" destOrd="0" presId="urn:microsoft.com/office/officeart/2016/7/layout/BasicLinearProcessNumbered"/>
    <dgm:cxn modelId="{A8B1F53A-9364-C54B-AEC5-BCD360B568F2}" type="presParOf" srcId="{E1A8A61C-4446-DC47-961D-C78DFCADE990}" destId="{A22E44C6-E61D-034D-9FD9-98388F0B11EE}" srcOrd="2" destOrd="0" presId="urn:microsoft.com/office/officeart/2016/7/layout/BasicLinearProcessNumbered"/>
    <dgm:cxn modelId="{565FB11E-408C-B248-ACB7-61E7DFE6B1C0}" type="presParOf" srcId="{E1A8A61C-4446-DC47-961D-C78DFCADE990}" destId="{410A1883-2707-5C47-8383-918C4ED7911B}" srcOrd="3" destOrd="0" presId="urn:microsoft.com/office/officeart/2016/7/layout/BasicLinearProcessNumbered"/>
    <dgm:cxn modelId="{E2A46A3D-F5E1-3B4A-A898-AB9EB326ACC8}" type="presParOf" srcId="{0192D632-74B6-964C-BD97-F0195BFC8506}" destId="{A14DE9BF-B64A-2A41-9D2E-F0E870A82B4F}" srcOrd="7" destOrd="0" presId="urn:microsoft.com/office/officeart/2016/7/layout/BasicLinearProcessNumbered"/>
    <dgm:cxn modelId="{44F88FEF-FC21-C540-846E-02CC0EC168DD}" type="presParOf" srcId="{0192D632-74B6-964C-BD97-F0195BFC8506}" destId="{1A0139F7-9BDD-A249-963F-F7700F6D34A8}" srcOrd="8" destOrd="0" presId="urn:microsoft.com/office/officeart/2016/7/layout/BasicLinearProcessNumbered"/>
    <dgm:cxn modelId="{A6CB0A9B-2820-0B40-9E35-CA202EC23BAA}" type="presParOf" srcId="{1A0139F7-9BDD-A249-963F-F7700F6D34A8}" destId="{9103F4B7-745B-3747-B015-DC8CB78E8F0F}" srcOrd="0" destOrd="0" presId="urn:microsoft.com/office/officeart/2016/7/layout/BasicLinearProcessNumbered"/>
    <dgm:cxn modelId="{CEC25D10-E48D-D94E-AF51-AD82F76E5AEC}" type="presParOf" srcId="{1A0139F7-9BDD-A249-963F-F7700F6D34A8}" destId="{AB32AC8A-A23E-E147-B929-A402E245F4EF}" srcOrd="1" destOrd="0" presId="urn:microsoft.com/office/officeart/2016/7/layout/BasicLinearProcessNumbered"/>
    <dgm:cxn modelId="{427EE67B-6049-3240-BD5C-69BD847DED8D}" type="presParOf" srcId="{1A0139F7-9BDD-A249-963F-F7700F6D34A8}" destId="{1E1A9946-49CD-0145-8441-A6E5398F743F}" srcOrd="2" destOrd="0" presId="urn:microsoft.com/office/officeart/2016/7/layout/BasicLinearProcessNumbered"/>
    <dgm:cxn modelId="{F4278B08-5832-F449-A0DE-DC9B348E4041}" type="presParOf" srcId="{1A0139F7-9BDD-A249-963F-F7700F6D34A8}" destId="{CDC18622-0911-9346-88EF-F76AEC81DB3F}" srcOrd="3" destOrd="0" presId="urn:microsoft.com/office/officeart/2016/7/layout/BasicLinearProcessNumbered"/>
    <dgm:cxn modelId="{1F31BE83-3331-0B46-8F4E-8EB9AC43F2B4}" type="presParOf" srcId="{0192D632-74B6-964C-BD97-F0195BFC8506}" destId="{02BED10E-5F79-2445-B445-84C76CF5ACC9}" srcOrd="9" destOrd="0" presId="urn:microsoft.com/office/officeart/2016/7/layout/BasicLinearProcessNumbered"/>
    <dgm:cxn modelId="{17F533F8-CD6A-3F4E-8B0E-B8F062C5AFFA}" type="presParOf" srcId="{0192D632-74B6-964C-BD97-F0195BFC8506}" destId="{B2D5EB3B-63D2-A442-8AE9-6E43F842F469}" srcOrd="10" destOrd="0" presId="urn:microsoft.com/office/officeart/2016/7/layout/BasicLinearProcessNumbered"/>
    <dgm:cxn modelId="{3E8BE357-A037-E542-A929-043C31C39D4A}" type="presParOf" srcId="{B2D5EB3B-63D2-A442-8AE9-6E43F842F469}" destId="{99F36648-299B-3049-A86B-CB62FB1DAFD9}" srcOrd="0" destOrd="0" presId="urn:microsoft.com/office/officeart/2016/7/layout/BasicLinearProcessNumbered"/>
    <dgm:cxn modelId="{BE5B32E6-240A-1D44-8DC7-36ACEBD8961E}" type="presParOf" srcId="{B2D5EB3B-63D2-A442-8AE9-6E43F842F469}" destId="{35E1E2F7-1080-5F46-AC9E-40448292817A}" srcOrd="1" destOrd="0" presId="urn:microsoft.com/office/officeart/2016/7/layout/BasicLinearProcessNumbered"/>
    <dgm:cxn modelId="{999D5F33-785A-8546-9ED7-391BA56D1B0C}" type="presParOf" srcId="{B2D5EB3B-63D2-A442-8AE9-6E43F842F469}" destId="{C89515A6-C660-004E-905C-1BD8BCA8DC3B}" srcOrd="2" destOrd="0" presId="urn:microsoft.com/office/officeart/2016/7/layout/BasicLinearProcessNumbered"/>
    <dgm:cxn modelId="{975A02EC-4CF5-1746-8039-66740C6791B2}" type="presParOf" srcId="{B2D5EB3B-63D2-A442-8AE9-6E43F842F469}" destId="{521F7E2F-EDFD-5147-B8EC-4096F1FE29EC}" srcOrd="3" destOrd="0" presId="urn:microsoft.com/office/officeart/2016/7/layout/BasicLinearProcessNumbered"/>
    <dgm:cxn modelId="{41E5DB94-A032-A740-8EA8-EA3E5FB7F19F}" type="presParOf" srcId="{0192D632-74B6-964C-BD97-F0195BFC8506}" destId="{FB04A8FF-C4CC-BA41-9531-0CD0C086AA49}" srcOrd="11" destOrd="0" presId="urn:microsoft.com/office/officeart/2016/7/layout/BasicLinearProcessNumbered"/>
    <dgm:cxn modelId="{47AD8F22-2196-4542-A6F8-26F58BDC39DE}" type="presParOf" srcId="{0192D632-74B6-964C-BD97-F0195BFC8506}" destId="{F634E42F-D47D-4E43-A30C-162FDB869FC1}" srcOrd="12" destOrd="0" presId="urn:microsoft.com/office/officeart/2016/7/layout/BasicLinearProcessNumbered"/>
    <dgm:cxn modelId="{C3E21621-7EBC-7D49-999F-810C45730D40}" type="presParOf" srcId="{F634E42F-D47D-4E43-A30C-162FDB869FC1}" destId="{B8973AE8-6582-E84D-BB98-047D7A4EEF11}" srcOrd="0" destOrd="0" presId="urn:microsoft.com/office/officeart/2016/7/layout/BasicLinearProcessNumbered"/>
    <dgm:cxn modelId="{AC8520EE-B845-B840-B883-9227504E21ED}" type="presParOf" srcId="{F634E42F-D47D-4E43-A30C-162FDB869FC1}" destId="{113C0A2C-293E-754E-8B54-EF025B66B08F}" srcOrd="1" destOrd="0" presId="urn:microsoft.com/office/officeart/2016/7/layout/BasicLinearProcessNumbered"/>
    <dgm:cxn modelId="{EDAE3F5D-FB66-3843-98A0-41E5338D9F5D}" type="presParOf" srcId="{F634E42F-D47D-4E43-A30C-162FDB869FC1}" destId="{1E583C8D-0B64-9D40-A4F6-501080447CBF}" srcOrd="2" destOrd="0" presId="urn:microsoft.com/office/officeart/2016/7/layout/BasicLinearProcessNumbered"/>
    <dgm:cxn modelId="{3E9166EA-F84E-9D4D-9350-8EFF25E6D04B}" type="presParOf" srcId="{F634E42F-D47D-4E43-A30C-162FDB869FC1}" destId="{C03DE7E7-98F3-404F-9850-EC157949F845}" srcOrd="3" destOrd="0" presId="urn:microsoft.com/office/officeart/2016/7/layout/BasicLinearProcessNumbered"/>
    <dgm:cxn modelId="{E0CAEFD9-C19B-B442-979D-7EACAEE5218B}" type="presParOf" srcId="{0192D632-74B6-964C-BD97-F0195BFC8506}" destId="{0F0B05A7-FE62-1744-AA86-BA35F76804C5}" srcOrd="13" destOrd="0" presId="urn:microsoft.com/office/officeart/2016/7/layout/BasicLinearProcessNumbered"/>
    <dgm:cxn modelId="{7FDDBF88-4612-B84F-B821-97E9BF8CD99B}" type="presParOf" srcId="{0192D632-74B6-964C-BD97-F0195BFC8506}" destId="{7190332E-8462-3C47-886E-DA931B2DA177}" srcOrd="14" destOrd="0" presId="urn:microsoft.com/office/officeart/2016/7/layout/BasicLinearProcessNumbered"/>
    <dgm:cxn modelId="{F22692E7-CCFD-CF4A-AA0A-81F3136C3AF6}" type="presParOf" srcId="{7190332E-8462-3C47-886E-DA931B2DA177}" destId="{B793ADA9-BDF2-AF48-B186-5FD834211CC1}" srcOrd="0" destOrd="0" presId="urn:microsoft.com/office/officeart/2016/7/layout/BasicLinearProcessNumbered"/>
    <dgm:cxn modelId="{8A5689C1-906A-3849-8903-7311063D2423}" type="presParOf" srcId="{7190332E-8462-3C47-886E-DA931B2DA177}" destId="{8685B940-9C15-584E-9DD2-AC37977F7F67}" srcOrd="1" destOrd="0" presId="urn:microsoft.com/office/officeart/2016/7/layout/BasicLinearProcessNumbered"/>
    <dgm:cxn modelId="{C3D0BE9A-3808-1F41-9212-161B96508F35}" type="presParOf" srcId="{7190332E-8462-3C47-886E-DA931B2DA177}" destId="{E9A330A4-1E15-004E-A0C4-9B1E7025D4AC}" srcOrd="2" destOrd="0" presId="urn:microsoft.com/office/officeart/2016/7/layout/BasicLinearProcessNumbered"/>
    <dgm:cxn modelId="{DB46AEE7-6C64-0F4E-A9B1-9855501939C0}" type="presParOf" srcId="{7190332E-8462-3C47-886E-DA931B2DA177}" destId="{D4EC5C34-B19B-7546-A246-55F2C814F8A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57B97E-A34D-B64C-A190-2AEE75445FF0}">
      <dsp:nvSpPr>
        <dsp:cNvPr id="0" name=""/>
        <dsp:cNvSpPr/>
      </dsp:nvSpPr>
      <dsp:spPr>
        <a:xfrm>
          <a:off x="0" y="-1"/>
          <a:ext cx="1102872" cy="3581403"/>
        </a:xfrm>
        <a:prstGeom prst="rect">
          <a:avLst/>
        </a:prstGeom>
        <a:solidFill>
          <a:schemeClr val="accent2">
            <a:tint val="40000"/>
            <a:alpha val="90000"/>
            <a:hueOff val="0"/>
            <a:satOff val="0"/>
            <a:lumOff val="0"/>
            <a:alphaOff val="0"/>
          </a:schemeClr>
        </a:solidFill>
        <a:ln w="34925" cap="flat" cmpd="sng" algn="in">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984" tIns="330200" rIns="85984" bIns="330200" numCol="1" spcCol="1270" anchor="t" anchorCtr="0">
          <a:noAutofit/>
        </a:bodyPr>
        <a:lstStyle/>
        <a:p>
          <a:pPr marL="0" lvl="0" indent="0" algn="l" defTabSz="488950">
            <a:lnSpc>
              <a:spcPct val="90000"/>
            </a:lnSpc>
            <a:spcBef>
              <a:spcPct val="0"/>
            </a:spcBef>
            <a:spcAft>
              <a:spcPct val="35000"/>
            </a:spcAft>
            <a:buNone/>
          </a:pPr>
          <a:r>
            <a:rPr lang="en-US" sz="1100" kern="1200" baseline="0" dirty="0"/>
            <a:t>Write the first draft that includes each section</a:t>
          </a:r>
          <a:endParaRPr lang="en-US" sz="1100" kern="1200" dirty="0"/>
        </a:p>
      </dsp:txBody>
      <dsp:txXfrm>
        <a:off x="0" y="1360931"/>
        <a:ext cx="1102872" cy="2148841"/>
      </dsp:txXfrm>
    </dsp:sp>
    <dsp:sp modelId="{34EF71D1-64C6-3645-8268-7E490297B151}">
      <dsp:nvSpPr>
        <dsp:cNvPr id="0" name=""/>
        <dsp:cNvSpPr/>
      </dsp:nvSpPr>
      <dsp:spPr>
        <a:xfrm>
          <a:off x="322938" y="1173091"/>
          <a:ext cx="463206" cy="463206"/>
        </a:xfrm>
        <a:prstGeom prst="ellipse">
          <a:avLst/>
        </a:prstGeom>
        <a:solidFill>
          <a:schemeClr val="accent2">
            <a:hueOff val="0"/>
            <a:satOff val="0"/>
            <a:lumOff val="0"/>
            <a:alphaOff val="0"/>
          </a:schemeClr>
        </a:solidFill>
        <a:ln w="34925"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13" tIns="12700" rIns="36113" bIns="12700" numCol="1" spcCol="1270" anchor="ctr" anchorCtr="0">
          <a:noAutofit/>
        </a:bodyPr>
        <a:lstStyle/>
        <a:p>
          <a:pPr marL="0" lvl="0" indent="0" algn="ctr" defTabSz="1022350">
            <a:lnSpc>
              <a:spcPct val="90000"/>
            </a:lnSpc>
            <a:spcBef>
              <a:spcPct val="0"/>
            </a:spcBef>
            <a:spcAft>
              <a:spcPct val="35000"/>
            </a:spcAft>
            <a:buNone/>
          </a:pPr>
          <a:r>
            <a:rPr lang="en-US" sz="2300" kern="1200"/>
            <a:t>1</a:t>
          </a:r>
        </a:p>
      </dsp:txBody>
      <dsp:txXfrm>
        <a:off x="390773" y="1240926"/>
        <a:ext cx="327536" cy="327536"/>
      </dsp:txXfrm>
    </dsp:sp>
    <dsp:sp modelId="{D2514EE4-A1D6-4349-929B-7699689E624C}">
      <dsp:nvSpPr>
        <dsp:cNvPr id="0" name=""/>
        <dsp:cNvSpPr/>
      </dsp:nvSpPr>
      <dsp:spPr>
        <a:xfrm>
          <a:off x="3105" y="2562638"/>
          <a:ext cx="1102872" cy="72"/>
        </a:xfrm>
        <a:prstGeom prst="rect">
          <a:avLst/>
        </a:prstGeom>
        <a:solidFill>
          <a:schemeClr val="accent3">
            <a:hueOff val="0"/>
            <a:satOff val="0"/>
            <a:lumOff val="0"/>
            <a:alphaOff val="0"/>
          </a:schemeClr>
        </a:solidFill>
        <a:ln w="34925" cap="flat" cmpd="sng" algn="in">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817B15-E492-0F43-9CC6-7808D135DCEB}">
      <dsp:nvSpPr>
        <dsp:cNvPr id="0" name=""/>
        <dsp:cNvSpPr/>
      </dsp:nvSpPr>
      <dsp:spPr>
        <a:xfrm>
          <a:off x="1216265" y="-1"/>
          <a:ext cx="1102872" cy="3581403"/>
        </a:xfrm>
        <a:prstGeom prst="rect">
          <a:avLst/>
        </a:prstGeom>
        <a:solidFill>
          <a:schemeClr val="accent3">
            <a:tint val="40000"/>
            <a:alpha val="90000"/>
            <a:hueOff val="0"/>
            <a:satOff val="0"/>
            <a:lumOff val="0"/>
            <a:alphaOff val="0"/>
          </a:schemeClr>
        </a:solidFill>
        <a:ln w="34925" cap="flat" cmpd="sng" algn="in">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984" tIns="330200" rIns="85984" bIns="330200" numCol="1" spcCol="1270" anchor="t" anchorCtr="0">
          <a:noAutofit/>
        </a:bodyPr>
        <a:lstStyle/>
        <a:p>
          <a:pPr marL="0" lvl="0" indent="0" algn="l" defTabSz="488950">
            <a:lnSpc>
              <a:spcPct val="90000"/>
            </a:lnSpc>
            <a:spcBef>
              <a:spcPct val="0"/>
            </a:spcBef>
            <a:spcAft>
              <a:spcPct val="35000"/>
            </a:spcAft>
            <a:buNone/>
          </a:pPr>
          <a:r>
            <a:rPr lang="en-US" sz="1100" kern="1200" baseline="0" dirty="0"/>
            <a:t>Assign the principle to a curator who makes a preliminary decision</a:t>
          </a:r>
          <a:endParaRPr lang="en-US" sz="1100" kern="1200" dirty="0"/>
        </a:p>
      </dsp:txBody>
      <dsp:txXfrm>
        <a:off x="1216265" y="1360931"/>
        <a:ext cx="1102872" cy="2148841"/>
      </dsp:txXfrm>
    </dsp:sp>
    <dsp:sp modelId="{3DBBEE3F-4E9A-0145-BC0B-832FA4F326E5}">
      <dsp:nvSpPr>
        <dsp:cNvPr id="0" name=""/>
        <dsp:cNvSpPr/>
      </dsp:nvSpPr>
      <dsp:spPr>
        <a:xfrm>
          <a:off x="1536098" y="1173091"/>
          <a:ext cx="463206" cy="463206"/>
        </a:xfrm>
        <a:prstGeom prst="ellipse">
          <a:avLst/>
        </a:prstGeom>
        <a:solidFill>
          <a:schemeClr val="accent4">
            <a:hueOff val="0"/>
            <a:satOff val="0"/>
            <a:lumOff val="0"/>
            <a:alphaOff val="0"/>
          </a:schemeClr>
        </a:solidFill>
        <a:ln w="34925" cap="flat" cmpd="sng" algn="in">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13" tIns="12700" rIns="36113" bIns="12700" numCol="1" spcCol="1270" anchor="ctr" anchorCtr="0">
          <a:noAutofit/>
        </a:bodyPr>
        <a:lstStyle/>
        <a:p>
          <a:pPr marL="0" lvl="0" indent="0" algn="ctr" defTabSz="1022350">
            <a:lnSpc>
              <a:spcPct val="90000"/>
            </a:lnSpc>
            <a:spcBef>
              <a:spcPct val="0"/>
            </a:spcBef>
            <a:spcAft>
              <a:spcPct val="35000"/>
            </a:spcAft>
            <a:buNone/>
          </a:pPr>
          <a:r>
            <a:rPr lang="en-US" sz="2300" kern="1200"/>
            <a:t>2</a:t>
          </a:r>
        </a:p>
      </dsp:txBody>
      <dsp:txXfrm>
        <a:off x="1603933" y="1240926"/>
        <a:ext cx="327536" cy="327536"/>
      </dsp:txXfrm>
    </dsp:sp>
    <dsp:sp modelId="{7950F8CE-73C1-A64F-B0EB-01944C992425}">
      <dsp:nvSpPr>
        <dsp:cNvPr id="0" name=""/>
        <dsp:cNvSpPr/>
      </dsp:nvSpPr>
      <dsp:spPr>
        <a:xfrm>
          <a:off x="1216265" y="2562638"/>
          <a:ext cx="1102872" cy="72"/>
        </a:xfrm>
        <a:prstGeom prst="rect">
          <a:avLst/>
        </a:prstGeom>
        <a:solidFill>
          <a:schemeClr val="accent5">
            <a:hueOff val="0"/>
            <a:satOff val="0"/>
            <a:lumOff val="0"/>
            <a:alphaOff val="0"/>
          </a:schemeClr>
        </a:solidFill>
        <a:ln w="34925"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FBC0BA-861F-474D-9A7A-773F722764CC}">
      <dsp:nvSpPr>
        <dsp:cNvPr id="0" name=""/>
        <dsp:cNvSpPr/>
      </dsp:nvSpPr>
      <dsp:spPr>
        <a:xfrm>
          <a:off x="2429424" y="-1"/>
          <a:ext cx="1102872" cy="3581403"/>
        </a:xfrm>
        <a:prstGeom prst="rect">
          <a:avLst/>
        </a:prstGeom>
        <a:solidFill>
          <a:schemeClr val="accent4">
            <a:tint val="40000"/>
            <a:alpha val="90000"/>
            <a:hueOff val="0"/>
            <a:satOff val="0"/>
            <a:lumOff val="0"/>
            <a:alphaOff val="0"/>
          </a:schemeClr>
        </a:solidFill>
        <a:ln w="34925" cap="flat" cmpd="sng" algn="in">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984" tIns="330200" rIns="85984" bIns="330200" numCol="1" spcCol="1270" anchor="t" anchorCtr="0">
          <a:noAutofit/>
        </a:bodyPr>
        <a:lstStyle/>
        <a:p>
          <a:pPr marL="0" lvl="0" indent="0" algn="l" defTabSz="488950">
            <a:lnSpc>
              <a:spcPct val="90000"/>
            </a:lnSpc>
            <a:spcBef>
              <a:spcPct val="0"/>
            </a:spcBef>
            <a:spcAft>
              <a:spcPct val="35000"/>
            </a:spcAft>
            <a:buNone/>
          </a:pPr>
          <a:r>
            <a:rPr lang="en-US" sz="1100" kern="1200" baseline="0" dirty="0"/>
            <a:t>Author iterates with curator to produce a Principle For Discussion (PFD)</a:t>
          </a:r>
          <a:endParaRPr lang="en-US" sz="1100" kern="1200" dirty="0"/>
        </a:p>
      </dsp:txBody>
      <dsp:txXfrm>
        <a:off x="2429424" y="1360931"/>
        <a:ext cx="1102872" cy="2148841"/>
      </dsp:txXfrm>
    </dsp:sp>
    <dsp:sp modelId="{60072649-4426-B24B-9878-29A4956F61D3}">
      <dsp:nvSpPr>
        <dsp:cNvPr id="0" name=""/>
        <dsp:cNvSpPr/>
      </dsp:nvSpPr>
      <dsp:spPr>
        <a:xfrm>
          <a:off x="2749257" y="1173091"/>
          <a:ext cx="463206" cy="463206"/>
        </a:xfrm>
        <a:prstGeom prst="ellipse">
          <a:avLst/>
        </a:prstGeom>
        <a:solidFill>
          <a:schemeClr val="accent6">
            <a:hueOff val="0"/>
            <a:satOff val="0"/>
            <a:lumOff val="0"/>
            <a:alphaOff val="0"/>
          </a:schemeClr>
        </a:solidFill>
        <a:ln w="34925" cap="flat" cmpd="sng" algn="in">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13" tIns="12700" rIns="36113" bIns="12700" numCol="1" spcCol="1270" anchor="ctr" anchorCtr="0">
          <a:noAutofit/>
        </a:bodyPr>
        <a:lstStyle/>
        <a:p>
          <a:pPr marL="0" lvl="0" indent="0" algn="ctr" defTabSz="1022350">
            <a:lnSpc>
              <a:spcPct val="90000"/>
            </a:lnSpc>
            <a:spcBef>
              <a:spcPct val="0"/>
            </a:spcBef>
            <a:spcAft>
              <a:spcPct val="35000"/>
            </a:spcAft>
            <a:buNone/>
          </a:pPr>
          <a:r>
            <a:rPr lang="en-US" sz="2300" kern="1200"/>
            <a:t>3</a:t>
          </a:r>
        </a:p>
      </dsp:txBody>
      <dsp:txXfrm>
        <a:off x="2817092" y="1240926"/>
        <a:ext cx="327536" cy="327536"/>
      </dsp:txXfrm>
    </dsp:sp>
    <dsp:sp modelId="{F9A34117-27FD-0941-A4B7-3367335C2BB0}">
      <dsp:nvSpPr>
        <dsp:cNvPr id="0" name=""/>
        <dsp:cNvSpPr/>
      </dsp:nvSpPr>
      <dsp:spPr>
        <a:xfrm>
          <a:off x="2429424" y="2562638"/>
          <a:ext cx="1102872" cy="72"/>
        </a:xfrm>
        <a:prstGeom prst="rect">
          <a:avLst/>
        </a:prstGeom>
        <a:solidFill>
          <a:schemeClr val="accent2">
            <a:hueOff val="0"/>
            <a:satOff val="0"/>
            <a:lumOff val="0"/>
            <a:alphaOff val="0"/>
          </a:schemeClr>
        </a:solidFill>
        <a:ln w="34925"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273567-9E3D-3B48-BFA8-32A60C22006D}">
      <dsp:nvSpPr>
        <dsp:cNvPr id="0" name=""/>
        <dsp:cNvSpPr/>
      </dsp:nvSpPr>
      <dsp:spPr>
        <a:xfrm>
          <a:off x="3475752" y="-1"/>
          <a:ext cx="1102872" cy="3581403"/>
        </a:xfrm>
        <a:prstGeom prst="rect">
          <a:avLst/>
        </a:prstGeom>
        <a:solidFill>
          <a:schemeClr val="accent5">
            <a:tint val="40000"/>
            <a:alpha val="90000"/>
            <a:hueOff val="0"/>
            <a:satOff val="0"/>
            <a:lumOff val="0"/>
            <a:alphaOff val="0"/>
          </a:schemeClr>
        </a:solidFill>
        <a:ln w="34925" cap="flat" cmpd="sng" algn="in">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984" tIns="330200" rIns="85984" bIns="330200" numCol="1" spcCol="1270" anchor="t" anchorCtr="0">
          <a:noAutofit/>
        </a:bodyPr>
        <a:lstStyle/>
        <a:p>
          <a:pPr marL="0" lvl="0" indent="0" algn="l" defTabSz="488950">
            <a:lnSpc>
              <a:spcPct val="90000"/>
            </a:lnSpc>
            <a:spcBef>
              <a:spcPct val="0"/>
            </a:spcBef>
            <a:spcAft>
              <a:spcPct val="35000"/>
            </a:spcAft>
            <a:buNone/>
          </a:pPr>
          <a:r>
            <a:rPr lang="en-US" sz="1100" kern="1200" baseline="0"/>
            <a:t>Post PFD on site for comments</a:t>
          </a:r>
          <a:endParaRPr lang="en-US" sz="1100" kern="1200"/>
        </a:p>
      </dsp:txBody>
      <dsp:txXfrm>
        <a:off x="3475752" y="1360931"/>
        <a:ext cx="1102872" cy="2148841"/>
      </dsp:txXfrm>
    </dsp:sp>
    <dsp:sp modelId="{67309974-EB63-CA4D-AA7A-3FC14A6D50DB}">
      <dsp:nvSpPr>
        <dsp:cNvPr id="0" name=""/>
        <dsp:cNvSpPr/>
      </dsp:nvSpPr>
      <dsp:spPr>
        <a:xfrm>
          <a:off x="3962417" y="1173091"/>
          <a:ext cx="463206" cy="463206"/>
        </a:xfrm>
        <a:prstGeom prst="ellipse">
          <a:avLst/>
        </a:prstGeom>
        <a:solidFill>
          <a:schemeClr val="accent3">
            <a:hueOff val="0"/>
            <a:satOff val="0"/>
            <a:lumOff val="0"/>
            <a:alphaOff val="0"/>
          </a:schemeClr>
        </a:solidFill>
        <a:ln w="34925" cap="flat" cmpd="sng" algn="in">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13" tIns="12700" rIns="36113" bIns="12700" numCol="1" spcCol="1270" anchor="ctr" anchorCtr="0">
          <a:noAutofit/>
        </a:bodyPr>
        <a:lstStyle/>
        <a:p>
          <a:pPr marL="0" lvl="0" indent="0" algn="ctr" defTabSz="1022350">
            <a:lnSpc>
              <a:spcPct val="90000"/>
            </a:lnSpc>
            <a:spcBef>
              <a:spcPct val="0"/>
            </a:spcBef>
            <a:spcAft>
              <a:spcPct val="35000"/>
            </a:spcAft>
            <a:buNone/>
          </a:pPr>
          <a:r>
            <a:rPr lang="en-US" sz="2300" kern="1200"/>
            <a:t>4</a:t>
          </a:r>
        </a:p>
      </dsp:txBody>
      <dsp:txXfrm>
        <a:off x="4030252" y="1240926"/>
        <a:ext cx="327536" cy="327536"/>
      </dsp:txXfrm>
    </dsp:sp>
    <dsp:sp modelId="{A22E44C6-E61D-034D-9FD9-98388F0B11EE}">
      <dsp:nvSpPr>
        <dsp:cNvPr id="0" name=""/>
        <dsp:cNvSpPr/>
      </dsp:nvSpPr>
      <dsp:spPr>
        <a:xfrm>
          <a:off x="3642584" y="2562638"/>
          <a:ext cx="1102872" cy="72"/>
        </a:xfrm>
        <a:prstGeom prst="rect">
          <a:avLst/>
        </a:prstGeom>
        <a:solidFill>
          <a:schemeClr val="accent4">
            <a:hueOff val="0"/>
            <a:satOff val="0"/>
            <a:lumOff val="0"/>
            <a:alphaOff val="0"/>
          </a:schemeClr>
        </a:solidFill>
        <a:ln w="34925" cap="flat" cmpd="sng" algn="in">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03F4B7-745B-3747-B015-DC8CB78E8F0F}">
      <dsp:nvSpPr>
        <dsp:cNvPr id="0" name=""/>
        <dsp:cNvSpPr/>
      </dsp:nvSpPr>
      <dsp:spPr>
        <a:xfrm>
          <a:off x="4855743" y="-1"/>
          <a:ext cx="1102872" cy="3581403"/>
        </a:xfrm>
        <a:prstGeom prst="rect">
          <a:avLst/>
        </a:prstGeom>
        <a:solidFill>
          <a:schemeClr val="accent6">
            <a:tint val="40000"/>
            <a:alpha val="90000"/>
            <a:hueOff val="0"/>
            <a:satOff val="0"/>
            <a:lumOff val="0"/>
            <a:alphaOff val="0"/>
          </a:schemeClr>
        </a:solidFill>
        <a:ln w="34925" cap="flat" cmpd="sng" algn="in">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984" tIns="330200" rIns="85984" bIns="330200" numCol="1" spcCol="1270" anchor="t" anchorCtr="0">
          <a:noAutofit/>
        </a:bodyPr>
        <a:lstStyle/>
        <a:p>
          <a:pPr marL="0" lvl="0" indent="0" algn="l" defTabSz="488950">
            <a:lnSpc>
              <a:spcPct val="90000"/>
            </a:lnSpc>
            <a:spcBef>
              <a:spcPct val="0"/>
            </a:spcBef>
            <a:spcAft>
              <a:spcPct val="35000"/>
            </a:spcAft>
            <a:buNone/>
          </a:pPr>
          <a:r>
            <a:rPr lang="en-US" sz="1100" kern="1200" baseline="0" dirty="0"/>
            <a:t>Hold a Real Time presentation and a Q and A session in which the owner presents their principle and the group asks questions or makes comments</a:t>
          </a:r>
          <a:endParaRPr lang="en-US" sz="1100" kern="1200" dirty="0"/>
        </a:p>
      </dsp:txBody>
      <dsp:txXfrm>
        <a:off x="4855743" y="1360931"/>
        <a:ext cx="1102872" cy="2148841"/>
      </dsp:txXfrm>
    </dsp:sp>
    <dsp:sp modelId="{AB32AC8A-A23E-E147-B929-A402E245F4EF}">
      <dsp:nvSpPr>
        <dsp:cNvPr id="0" name=""/>
        <dsp:cNvSpPr/>
      </dsp:nvSpPr>
      <dsp:spPr>
        <a:xfrm>
          <a:off x="5175576" y="1173091"/>
          <a:ext cx="463206" cy="463206"/>
        </a:xfrm>
        <a:prstGeom prst="ellipse">
          <a:avLst/>
        </a:prstGeom>
        <a:solidFill>
          <a:schemeClr val="accent5">
            <a:hueOff val="0"/>
            <a:satOff val="0"/>
            <a:lumOff val="0"/>
            <a:alphaOff val="0"/>
          </a:schemeClr>
        </a:solidFill>
        <a:ln w="34925"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13" tIns="12700" rIns="36113" bIns="12700" numCol="1" spcCol="1270" anchor="ctr" anchorCtr="0">
          <a:noAutofit/>
        </a:bodyPr>
        <a:lstStyle/>
        <a:p>
          <a:pPr marL="0" lvl="0" indent="0" algn="ctr" defTabSz="1022350">
            <a:lnSpc>
              <a:spcPct val="90000"/>
            </a:lnSpc>
            <a:spcBef>
              <a:spcPct val="0"/>
            </a:spcBef>
            <a:spcAft>
              <a:spcPct val="35000"/>
            </a:spcAft>
            <a:buNone/>
          </a:pPr>
          <a:r>
            <a:rPr lang="en-US" sz="2300" kern="1200"/>
            <a:t>5</a:t>
          </a:r>
        </a:p>
      </dsp:txBody>
      <dsp:txXfrm>
        <a:off x="5243411" y="1240926"/>
        <a:ext cx="327536" cy="327536"/>
      </dsp:txXfrm>
    </dsp:sp>
    <dsp:sp modelId="{1E1A9946-49CD-0145-8441-A6E5398F743F}">
      <dsp:nvSpPr>
        <dsp:cNvPr id="0" name=""/>
        <dsp:cNvSpPr/>
      </dsp:nvSpPr>
      <dsp:spPr>
        <a:xfrm>
          <a:off x="4855743" y="2562638"/>
          <a:ext cx="1102872" cy="72"/>
        </a:xfrm>
        <a:prstGeom prst="rect">
          <a:avLst/>
        </a:prstGeom>
        <a:solidFill>
          <a:schemeClr val="accent6">
            <a:hueOff val="0"/>
            <a:satOff val="0"/>
            <a:lumOff val="0"/>
            <a:alphaOff val="0"/>
          </a:schemeClr>
        </a:solidFill>
        <a:ln w="34925" cap="flat" cmpd="sng" algn="in">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F36648-299B-3049-A86B-CB62FB1DAFD9}">
      <dsp:nvSpPr>
        <dsp:cNvPr id="0" name=""/>
        <dsp:cNvSpPr/>
      </dsp:nvSpPr>
      <dsp:spPr>
        <a:xfrm>
          <a:off x="6042401" y="-1"/>
          <a:ext cx="1102872" cy="3581403"/>
        </a:xfrm>
        <a:prstGeom prst="rect">
          <a:avLst/>
        </a:prstGeom>
        <a:solidFill>
          <a:schemeClr val="accent2">
            <a:tint val="40000"/>
            <a:alpha val="90000"/>
            <a:hueOff val="0"/>
            <a:satOff val="0"/>
            <a:lumOff val="0"/>
            <a:alphaOff val="0"/>
          </a:schemeClr>
        </a:solidFill>
        <a:ln w="34925" cap="flat" cmpd="sng" algn="in">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984" tIns="330200" rIns="85984" bIns="330200" numCol="1" spcCol="1270" anchor="t" anchorCtr="0">
          <a:noAutofit/>
        </a:bodyPr>
        <a:lstStyle/>
        <a:p>
          <a:pPr marL="0" lvl="0" indent="0" algn="l" defTabSz="488950">
            <a:lnSpc>
              <a:spcPct val="90000"/>
            </a:lnSpc>
            <a:spcBef>
              <a:spcPct val="0"/>
            </a:spcBef>
            <a:spcAft>
              <a:spcPct val="35000"/>
            </a:spcAft>
            <a:buNone/>
          </a:pPr>
          <a:r>
            <a:rPr lang="en-US" sz="1100" kern="1200" baseline="0" dirty="0"/>
            <a:t>Post Final curated version of the Universal Principle</a:t>
          </a:r>
          <a:endParaRPr lang="en-US" sz="1100" kern="1200" dirty="0"/>
        </a:p>
      </dsp:txBody>
      <dsp:txXfrm>
        <a:off x="6042401" y="1360931"/>
        <a:ext cx="1102872" cy="2148841"/>
      </dsp:txXfrm>
    </dsp:sp>
    <dsp:sp modelId="{35E1E2F7-1080-5F46-AC9E-40448292817A}">
      <dsp:nvSpPr>
        <dsp:cNvPr id="0" name=""/>
        <dsp:cNvSpPr/>
      </dsp:nvSpPr>
      <dsp:spPr>
        <a:xfrm>
          <a:off x="6388735" y="1173091"/>
          <a:ext cx="463206" cy="463206"/>
        </a:xfrm>
        <a:prstGeom prst="ellipse">
          <a:avLst/>
        </a:prstGeom>
        <a:solidFill>
          <a:schemeClr val="accent2">
            <a:hueOff val="0"/>
            <a:satOff val="0"/>
            <a:lumOff val="0"/>
            <a:alphaOff val="0"/>
          </a:schemeClr>
        </a:solidFill>
        <a:ln w="34925"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13" tIns="12700" rIns="36113" bIns="12700" numCol="1" spcCol="1270" anchor="ctr" anchorCtr="0">
          <a:noAutofit/>
        </a:bodyPr>
        <a:lstStyle/>
        <a:p>
          <a:pPr marL="0" lvl="0" indent="0" algn="ctr" defTabSz="1022350">
            <a:lnSpc>
              <a:spcPct val="90000"/>
            </a:lnSpc>
            <a:spcBef>
              <a:spcPct val="0"/>
            </a:spcBef>
            <a:spcAft>
              <a:spcPct val="35000"/>
            </a:spcAft>
            <a:buNone/>
          </a:pPr>
          <a:r>
            <a:rPr lang="en-US" sz="2300" kern="1200"/>
            <a:t>6</a:t>
          </a:r>
        </a:p>
      </dsp:txBody>
      <dsp:txXfrm>
        <a:off x="6456570" y="1240926"/>
        <a:ext cx="327536" cy="327536"/>
      </dsp:txXfrm>
    </dsp:sp>
    <dsp:sp modelId="{C89515A6-C660-004E-905C-1BD8BCA8DC3B}">
      <dsp:nvSpPr>
        <dsp:cNvPr id="0" name=""/>
        <dsp:cNvSpPr/>
      </dsp:nvSpPr>
      <dsp:spPr>
        <a:xfrm>
          <a:off x="5936381" y="3579960"/>
          <a:ext cx="1102872" cy="1440"/>
        </a:xfrm>
        <a:prstGeom prst="rect">
          <a:avLst/>
        </a:prstGeom>
        <a:solidFill>
          <a:schemeClr val="accent3">
            <a:hueOff val="0"/>
            <a:satOff val="0"/>
            <a:lumOff val="0"/>
            <a:alphaOff val="0"/>
          </a:schemeClr>
        </a:solidFill>
        <a:ln w="34925" cap="flat" cmpd="sng" algn="in">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973AE8-6582-E84D-BB98-047D7A4EEF11}">
      <dsp:nvSpPr>
        <dsp:cNvPr id="0" name=""/>
        <dsp:cNvSpPr/>
      </dsp:nvSpPr>
      <dsp:spPr>
        <a:xfrm>
          <a:off x="7282062" y="-1"/>
          <a:ext cx="1102872" cy="3581403"/>
        </a:xfrm>
        <a:prstGeom prst="rect">
          <a:avLst/>
        </a:prstGeom>
        <a:solidFill>
          <a:schemeClr val="accent3">
            <a:tint val="40000"/>
            <a:alpha val="90000"/>
            <a:hueOff val="0"/>
            <a:satOff val="0"/>
            <a:lumOff val="0"/>
            <a:alphaOff val="0"/>
          </a:schemeClr>
        </a:solidFill>
        <a:ln w="34925" cap="flat" cmpd="sng" algn="in">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984" tIns="330200" rIns="85984" bIns="330200" numCol="1" spcCol="1270" anchor="t" anchorCtr="0">
          <a:noAutofit/>
        </a:bodyPr>
        <a:lstStyle/>
        <a:p>
          <a:pPr marL="0" lvl="0" indent="0" algn="l" defTabSz="488950">
            <a:lnSpc>
              <a:spcPct val="90000"/>
            </a:lnSpc>
            <a:spcBef>
              <a:spcPct val="0"/>
            </a:spcBef>
            <a:spcAft>
              <a:spcPct val="35000"/>
            </a:spcAft>
            <a:buNone/>
          </a:pPr>
          <a:r>
            <a:rPr lang="en-US" sz="1100" kern="1200" baseline="0" dirty="0"/>
            <a:t>Hold a Real-Time that is recorded and posted along with the principle (optional)</a:t>
          </a:r>
          <a:endParaRPr lang="en-US" sz="1100" kern="1200" dirty="0"/>
        </a:p>
      </dsp:txBody>
      <dsp:txXfrm>
        <a:off x="7282062" y="1360931"/>
        <a:ext cx="1102872" cy="2148841"/>
      </dsp:txXfrm>
    </dsp:sp>
    <dsp:sp modelId="{113C0A2C-293E-754E-8B54-EF025B66B08F}">
      <dsp:nvSpPr>
        <dsp:cNvPr id="0" name=""/>
        <dsp:cNvSpPr/>
      </dsp:nvSpPr>
      <dsp:spPr>
        <a:xfrm>
          <a:off x="7601895" y="1173091"/>
          <a:ext cx="463206" cy="463206"/>
        </a:xfrm>
        <a:prstGeom prst="ellipse">
          <a:avLst/>
        </a:prstGeom>
        <a:solidFill>
          <a:schemeClr val="accent4">
            <a:hueOff val="0"/>
            <a:satOff val="0"/>
            <a:lumOff val="0"/>
            <a:alphaOff val="0"/>
          </a:schemeClr>
        </a:solidFill>
        <a:ln w="34925" cap="flat" cmpd="sng" algn="in">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13" tIns="12700" rIns="36113" bIns="12700" numCol="1" spcCol="1270" anchor="ctr" anchorCtr="0">
          <a:noAutofit/>
        </a:bodyPr>
        <a:lstStyle/>
        <a:p>
          <a:pPr marL="0" lvl="0" indent="0" algn="ctr" defTabSz="1022350">
            <a:lnSpc>
              <a:spcPct val="90000"/>
            </a:lnSpc>
            <a:spcBef>
              <a:spcPct val="0"/>
            </a:spcBef>
            <a:spcAft>
              <a:spcPct val="35000"/>
            </a:spcAft>
            <a:buNone/>
          </a:pPr>
          <a:r>
            <a:rPr lang="en-US" sz="2300" kern="1200"/>
            <a:t>7</a:t>
          </a:r>
        </a:p>
      </dsp:txBody>
      <dsp:txXfrm>
        <a:off x="7669730" y="1240926"/>
        <a:ext cx="327536" cy="327536"/>
      </dsp:txXfrm>
    </dsp:sp>
    <dsp:sp modelId="{1E583C8D-0B64-9D40-A4F6-501080447CBF}">
      <dsp:nvSpPr>
        <dsp:cNvPr id="0" name=""/>
        <dsp:cNvSpPr/>
      </dsp:nvSpPr>
      <dsp:spPr>
        <a:xfrm>
          <a:off x="7189299" y="3581328"/>
          <a:ext cx="1102872" cy="72"/>
        </a:xfrm>
        <a:prstGeom prst="rect">
          <a:avLst/>
        </a:prstGeom>
        <a:solidFill>
          <a:schemeClr val="accent5">
            <a:hueOff val="0"/>
            <a:satOff val="0"/>
            <a:lumOff val="0"/>
            <a:alphaOff val="0"/>
          </a:schemeClr>
        </a:solidFill>
        <a:ln w="34925"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93ADA9-BDF2-AF48-B186-5FD834211CC1}">
      <dsp:nvSpPr>
        <dsp:cNvPr id="0" name=""/>
        <dsp:cNvSpPr/>
      </dsp:nvSpPr>
      <dsp:spPr>
        <a:xfrm>
          <a:off x="8495221" y="-1"/>
          <a:ext cx="1102872" cy="3581403"/>
        </a:xfrm>
        <a:prstGeom prst="rect">
          <a:avLst/>
        </a:prstGeom>
        <a:solidFill>
          <a:schemeClr val="accent4">
            <a:tint val="40000"/>
            <a:alpha val="90000"/>
            <a:hueOff val="0"/>
            <a:satOff val="0"/>
            <a:lumOff val="0"/>
            <a:alphaOff val="0"/>
          </a:schemeClr>
        </a:solidFill>
        <a:ln w="34925" cap="flat" cmpd="sng" algn="in">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984" tIns="330200" rIns="85984" bIns="330200" numCol="1" spcCol="1270" anchor="t" anchorCtr="0">
          <a:noAutofit/>
        </a:bodyPr>
        <a:lstStyle/>
        <a:p>
          <a:pPr marL="0" lvl="0" indent="0" algn="l" defTabSz="488950">
            <a:lnSpc>
              <a:spcPct val="90000"/>
            </a:lnSpc>
            <a:spcBef>
              <a:spcPct val="0"/>
            </a:spcBef>
            <a:spcAft>
              <a:spcPct val="35000"/>
            </a:spcAft>
            <a:buNone/>
          </a:pPr>
          <a:r>
            <a:rPr lang="en-US" sz="1100" kern="1200" baseline="0" dirty="0"/>
            <a:t>Author poses one or more hard questions. Updates the principle as needed or answers ongoing questions </a:t>
          </a:r>
          <a:endParaRPr lang="en-US" sz="1100" kern="1200" dirty="0"/>
        </a:p>
      </dsp:txBody>
      <dsp:txXfrm>
        <a:off x="8495221" y="1360931"/>
        <a:ext cx="1102872" cy="2148841"/>
      </dsp:txXfrm>
    </dsp:sp>
    <dsp:sp modelId="{8685B940-9C15-584E-9DD2-AC37977F7F67}">
      <dsp:nvSpPr>
        <dsp:cNvPr id="0" name=""/>
        <dsp:cNvSpPr/>
      </dsp:nvSpPr>
      <dsp:spPr>
        <a:xfrm>
          <a:off x="8815054" y="1173091"/>
          <a:ext cx="463206" cy="463206"/>
        </a:xfrm>
        <a:prstGeom prst="ellipse">
          <a:avLst/>
        </a:prstGeom>
        <a:solidFill>
          <a:schemeClr val="accent6">
            <a:hueOff val="0"/>
            <a:satOff val="0"/>
            <a:lumOff val="0"/>
            <a:alphaOff val="0"/>
          </a:schemeClr>
        </a:solidFill>
        <a:ln w="34925" cap="flat" cmpd="sng" algn="in">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13" tIns="12700" rIns="36113" bIns="12700" numCol="1" spcCol="1270" anchor="ctr" anchorCtr="0">
          <a:noAutofit/>
        </a:bodyPr>
        <a:lstStyle/>
        <a:p>
          <a:pPr marL="0" lvl="0" indent="0" algn="ctr" defTabSz="1022350">
            <a:lnSpc>
              <a:spcPct val="90000"/>
            </a:lnSpc>
            <a:spcBef>
              <a:spcPct val="0"/>
            </a:spcBef>
            <a:spcAft>
              <a:spcPct val="35000"/>
            </a:spcAft>
            <a:buNone/>
          </a:pPr>
          <a:r>
            <a:rPr lang="en-US" sz="2300" kern="1200"/>
            <a:t>8</a:t>
          </a:r>
          <a:endParaRPr lang="en-US" sz="2300" kern="1200" dirty="0"/>
        </a:p>
      </dsp:txBody>
      <dsp:txXfrm>
        <a:off x="8882889" y="1240926"/>
        <a:ext cx="327536" cy="327536"/>
      </dsp:txXfrm>
    </dsp:sp>
    <dsp:sp modelId="{E9A330A4-1E15-004E-A0C4-9B1E7025D4AC}">
      <dsp:nvSpPr>
        <dsp:cNvPr id="0" name=""/>
        <dsp:cNvSpPr/>
      </dsp:nvSpPr>
      <dsp:spPr>
        <a:xfrm>
          <a:off x="8495221" y="2562638"/>
          <a:ext cx="1102872" cy="72"/>
        </a:xfrm>
        <a:prstGeom prst="rect">
          <a:avLst/>
        </a:prstGeom>
        <a:solidFill>
          <a:schemeClr val="accent2">
            <a:hueOff val="0"/>
            <a:satOff val="0"/>
            <a:lumOff val="0"/>
            <a:alphaOff val="0"/>
          </a:schemeClr>
        </a:solidFill>
        <a:ln w="34925"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8E4796-AC2D-6440-9438-DD5E65ABD4C3}" type="datetimeFigureOut">
              <a:rPr lang="en-US" smtClean="0"/>
              <a:t>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6EF758-C496-B848-A685-B9F03DFD3900}" type="slidenum">
              <a:rPr lang="en-US" smtClean="0"/>
              <a:t>‹#›</a:t>
            </a:fld>
            <a:endParaRPr lang="en-US"/>
          </a:p>
        </p:txBody>
      </p:sp>
    </p:spTree>
    <p:extLst>
      <p:ext uri="{BB962C8B-B14F-4D97-AF65-F5344CB8AC3E}">
        <p14:creationId xmlns:p14="http://schemas.microsoft.com/office/powerpoint/2010/main" val="1761624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Could someone like Nicky Taylor run this site with some input from me?</a:t>
            </a:r>
          </a:p>
          <a:p>
            <a:r>
              <a:rPr lang="en-US" dirty="0"/>
              <a:t>By deep engagement I mean much more than they could ever get from a book</a:t>
            </a:r>
          </a:p>
        </p:txBody>
      </p:sp>
      <p:sp>
        <p:nvSpPr>
          <p:cNvPr id="4" name="Slide Number Placeholder 3"/>
          <p:cNvSpPr>
            <a:spLocks noGrp="1"/>
          </p:cNvSpPr>
          <p:nvPr>
            <p:ph type="sldNum" sz="quarter" idx="5"/>
          </p:nvPr>
        </p:nvSpPr>
        <p:spPr/>
        <p:txBody>
          <a:bodyPr/>
          <a:lstStyle/>
          <a:p>
            <a:fld id="{816EF758-C496-B848-A685-B9F03DFD3900}" type="slidenum">
              <a:rPr lang="en-US" smtClean="0"/>
              <a:t>4</a:t>
            </a:fld>
            <a:endParaRPr lang="en-US"/>
          </a:p>
        </p:txBody>
      </p:sp>
    </p:spTree>
    <p:extLst>
      <p:ext uri="{BB962C8B-B14F-4D97-AF65-F5344CB8AC3E}">
        <p14:creationId xmlns:p14="http://schemas.microsoft.com/office/powerpoint/2010/main" val="1592377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need to engage the community to the extent that the site is sticky. Whatever I do must provide ongoing value.</a:t>
            </a:r>
          </a:p>
          <a:p>
            <a:endParaRPr lang="en-US" dirty="0"/>
          </a:p>
        </p:txBody>
      </p:sp>
      <p:sp>
        <p:nvSpPr>
          <p:cNvPr id="4" name="Slide Number Placeholder 3"/>
          <p:cNvSpPr>
            <a:spLocks noGrp="1"/>
          </p:cNvSpPr>
          <p:nvPr>
            <p:ph type="sldNum" sz="quarter" idx="5"/>
          </p:nvPr>
        </p:nvSpPr>
        <p:spPr/>
        <p:txBody>
          <a:bodyPr/>
          <a:lstStyle/>
          <a:p>
            <a:fld id="{816EF758-C496-B848-A685-B9F03DFD3900}" type="slidenum">
              <a:rPr lang="en-US" smtClean="0"/>
              <a:t>5</a:t>
            </a:fld>
            <a:endParaRPr lang="en-US"/>
          </a:p>
        </p:txBody>
      </p:sp>
    </p:spTree>
    <p:extLst>
      <p:ext uri="{BB962C8B-B14F-4D97-AF65-F5344CB8AC3E}">
        <p14:creationId xmlns:p14="http://schemas.microsoft.com/office/powerpoint/2010/main" val="1960971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can I incorporate the “many to one” model?</a:t>
            </a:r>
          </a:p>
        </p:txBody>
      </p:sp>
      <p:sp>
        <p:nvSpPr>
          <p:cNvPr id="4" name="Slide Number Placeholder 3"/>
          <p:cNvSpPr>
            <a:spLocks noGrp="1"/>
          </p:cNvSpPr>
          <p:nvPr>
            <p:ph type="sldNum" sz="quarter" idx="5"/>
          </p:nvPr>
        </p:nvSpPr>
        <p:spPr/>
        <p:txBody>
          <a:bodyPr/>
          <a:lstStyle/>
          <a:p>
            <a:fld id="{816EF758-C496-B848-A685-B9F03DFD3900}" type="slidenum">
              <a:rPr lang="en-US" smtClean="0"/>
              <a:t>6</a:t>
            </a:fld>
            <a:endParaRPr lang="en-US"/>
          </a:p>
        </p:txBody>
      </p:sp>
    </p:spTree>
    <p:extLst>
      <p:ext uri="{BB962C8B-B14F-4D97-AF65-F5344CB8AC3E}">
        <p14:creationId xmlns:p14="http://schemas.microsoft.com/office/powerpoint/2010/main" val="2210526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an easy to use template that tracks revisions, etc.</a:t>
            </a:r>
          </a:p>
        </p:txBody>
      </p:sp>
      <p:sp>
        <p:nvSpPr>
          <p:cNvPr id="4" name="Slide Number Placeholder 3"/>
          <p:cNvSpPr>
            <a:spLocks noGrp="1"/>
          </p:cNvSpPr>
          <p:nvPr>
            <p:ph type="sldNum" sz="quarter" idx="5"/>
          </p:nvPr>
        </p:nvSpPr>
        <p:spPr/>
        <p:txBody>
          <a:bodyPr/>
          <a:lstStyle/>
          <a:p>
            <a:fld id="{816EF758-C496-B848-A685-B9F03DFD3900}" type="slidenum">
              <a:rPr lang="en-US" smtClean="0"/>
              <a:t>7</a:t>
            </a:fld>
            <a:endParaRPr lang="en-US"/>
          </a:p>
        </p:txBody>
      </p:sp>
    </p:spTree>
    <p:extLst>
      <p:ext uri="{BB962C8B-B14F-4D97-AF65-F5344CB8AC3E}">
        <p14:creationId xmlns:p14="http://schemas.microsoft.com/office/powerpoint/2010/main" val="1724537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site for 24 hours so everyone can see more content than that to which they would normally be entitled with the intent of getting them to upgrade. Keep track of the number of subscription upgrades that happen in a normal month versus a month with one or two free for all days. Whoever creates the site must include the ability to easily enable a free for all.</a:t>
            </a:r>
          </a:p>
          <a:p>
            <a:endParaRPr lang="en-US" dirty="0"/>
          </a:p>
          <a:p>
            <a:r>
              <a:rPr lang="en-US" dirty="0"/>
              <a:t>One purpose of a free for all is that it may cause members to come to the site daily to see if a free for all is taking place. </a:t>
            </a:r>
          </a:p>
          <a:p>
            <a:endParaRPr lang="en-US" dirty="0"/>
          </a:p>
          <a:p>
            <a:r>
              <a:rPr lang="en-US" dirty="0"/>
              <a:t>There must be some way to prevent people from printing large numbers of pages. </a:t>
            </a:r>
          </a:p>
        </p:txBody>
      </p:sp>
      <p:sp>
        <p:nvSpPr>
          <p:cNvPr id="4" name="Slide Number Placeholder 3"/>
          <p:cNvSpPr>
            <a:spLocks noGrp="1"/>
          </p:cNvSpPr>
          <p:nvPr>
            <p:ph type="sldNum" sz="quarter" idx="5"/>
          </p:nvPr>
        </p:nvSpPr>
        <p:spPr/>
        <p:txBody>
          <a:bodyPr/>
          <a:lstStyle/>
          <a:p>
            <a:fld id="{816EF758-C496-B848-A685-B9F03DFD3900}" type="slidenum">
              <a:rPr lang="en-US" smtClean="0"/>
              <a:t>11</a:t>
            </a:fld>
            <a:endParaRPr lang="en-US"/>
          </a:p>
        </p:txBody>
      </p:sp>
    </p:spTree>
    <p:extLst>
      <p:ext uri="{BB962C8B-B14F-4D97-AF65-F5344CB8AC3E}">
        <p14:creationId xmlns:p14="http://schemas.microsoft.com/office/powerpoint/2010/main" val="3368536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6EF758-C496-B848-A685-B9F03DFD3900}" type="slidenum">
              <a:rPr lang="en-US" smtClean="0"/>
              <a:t>12</a:t>
            </a:fld>
            <a:endParaRPr lang="en-US"/>
          </a:p>
        </p:txBody>
      </p:sp>
    </p:spTree>
    <p:extLst>
      <p:ext uri="{BB962C8B-B14F-4D97-AF65-F5344CB8AC3E}">
        <p14:creationId xmlns:p14="http://schemas.microsoft.com/office/powerpoint/2010/main" val="92298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accepted the last step is for me or an admin to ask one or more hard questions that they answer. If the answer is comprehensive then the curated principle will be proposed. Invite other Subscribers and Contributors to opine before a principle is adopted. If there is not enough interest then open the process to Members. </a:t>
            </a:r>
          </a:p>
          <a:p>
            <a:endParaRPr lang="en-US" dirty="0"/>
          </a:p>
        </p:txBody>
      </p:sp>
      <p:sp>
        <p:nvSpPr>
          <p:cNvPr id="4" name="Slide Number Placeholder 3"/>
          <p:cNvSpPr>
            <a:spLocks noGrp="1"/>
          </p:cNvSpPr>
          <p:nvPr>
            <p:ph type="sldNum" sz="quarter" idx="5"/>
          </p:nvPr>
        </p:nvSpPr>
        <p:spPr/>
        <p:txBody>
          <a:bodyPr/>
          <a:lstStyle/>
          <a:p>
            <a:fld id="{816EF758-C496-B848-A685-B9F03DFD3900}" type="slidenum">
              <a:rPr lang="en-US" smtClean="0"/>
              <a:t>13</a:t>
            </a:fld>
            <a:endParaRPr lang="en-US"/>
          </a:p>
        </p:txBody>
      </p:sp>
    </p:spTree>
    <p:extLst>
      <p:ext uri="{BB962C8B-B14F-4D97-AF65-F5344CB8AC3E}">
        <p14:creationId xmlns:p14="http://schemas.microsoft.com/office/powerpoint/2010/main" val="1898214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we allow this group of members to pitch their own courses?</a:t>
            </a:r>
          </a:p>
        </p:txBody>
      </p:sp>
      <p:sp>
        <p:nvSpPr>
          <p:cNvPr id="4" name="Slide Number Placeholder 3"/>
          <p:cNvSpPr>
            <a:spLocks noGrp="1"/>
          </p:cNvSpPr>
          <p:nvPr>
            <p:ph type="sldNum" sz="quarter" idx="5"/>
          </p:nvPr>
        </p:nvSpPr>
        <p:spPr/>
        <p:txBody>
          <a:bodyPr/>
          <a:lstStyle/>
          <a:p>
            <a:fld id="{816EF758-C496-B848-A685-B9F03DFD3900}" type="slidenum">
              <a:rPr lang="en-US" smtClean="0"/>
              <a:t>14</a:t>
            </a:fld>
            <a:endParaRPr lang="en-US"/>
          </a:p>
        </p:txBody>
      </p:sp>
    </p:spTree>
    <p:extLst>
      <p:ext uri="{BB962C8B-B14F-4D97-AF65-F5344CB8AC3E}">
        <p14:creationId xmlns:p14="http://schemas.microsoft.com/office/powerpoint/2010/main" val="3624635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the reciprocal relationship for 12 months and sort out the components of value to see who pays whom</a:t>
            </a:r>
          </a:p>
        </p:txBody>
      </p:sp>
      <p:sp>
        <p:nvSpPr>
          <p:cNvPr id="4" name="Slide Number Placeholder 3"/>
          <p:cNvSpPr>
            <a:spLocks noGrp="1"/>
          </p:cNvSpPr>
          <p:nvPr>
            <p:ph type="sldNum" sz="quarter" idx="5"/>
          </p:nvPr>
        </p:nvSpPr>
        <p:spPr/>
        <p:txBody>
          <a:bodyPr/>
          <a:lstStyle/>
          <a:p>
            <a:fld id="{816EF758-C496-B848-A685-B9F03DFD3900}" type="slidenum">
              <a:rPr lang="en-US" smtClean="0"/>
              <a:t>20</a:t>
            </a:fld>
            <a:endParaRPr lang="en-US"/>
          </a:p>
        </p:txBody>
      </p:sp>
    </p:spTree>
    <p:extLst>
      <p:ext uri="{BB962C8B-B14F-4D97-AF65-F5344CB8AC3E}">
        <p14:creationId xmlns:p14="http://schemas.microsoft.com/office/powerpoint/2010/main" val="2402203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standards similar to Udemy to determine if a video is acceptable</a:t>
            </a:r>
          </a:p>
        </p:txBody>
      </p:sp>
      <p:sp>
        <p:nvSpPr>
          <p:cNvPr id="4" name="Slide Number Placeholder 3"/>
          <p:cNvSpPr>
            <a:spLocks noGrp="1"/>
          </p:cNvSpPr>
          <p:nvPr>
            <p:ph type="sldNum" sz="quarter" idx="5"/>
          </p:nvPr>
        </p:nvSpPr>
        <p:spPr/>
        <p:txBody>
          <a:bodyPr/>
          <a:lstStyle/>
          <a:p>
            <a:fld id="{816EF758-C496-B848-A685-B9F03DFD3900}" type="slidenum">
              <a:rPr lang="en-US" smtClean="0"/>
              <a:t>21</a:t>
            </a:fld>
            <a:endParaRPr lang="en-US"/>
          </a:p>
        </p:txBody>
      </p:sp>
    </p:spTree>
    <p:extLst>
      <p:ext uri="{BB962C8B-B14F-4D97-AF65-F5344CB8AC3E}">
        <p14:creationId xmlns:p14="http://schemas.microsoft.com/office/powerpoint/2010/main" val="3939749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am convinced that there are X problems to be solved or let’s call them learning opportunities as a company goes from pre-revenue to a billion and beyond. If the company is growing at 20% a year then those experiences might be spread over 30 years. If a company is growing at 100% then those experiences would only be spread over 8 years.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good example of a principle that saves a lot of time and mental effort is using the company’s money as if it were my own. I need two or three more examples “High Standards are a Leader’s Ultimate Gift to an organization.” </a:t>
            </a:r>
            <a:r>
              <a:rPr lang="en-US" dirty="0" err="1"/>
              <a:t>Everytime</a:t>
            </a:r>
            <a:r>
              <a:rPr lang="en-US" dirty="0"/>
              <a:t> you are tempted to lower standards for hiring or to make goals lower so they are more easily </a:t>
            </a:r>
            <a:r>
              <a:rPr lang="en-US" dirty="0" err="1"/>
              <a:t>accesable</a:t>
            </a:r>
            <a:r>
              <a:rPr lang="en-US" dirty="0"/>
              <a:t> </a:t>
            </a:r>
            <a:r>
              <a:rPr lang="en-US" dirty="0" err="1"/>
              <a:t>uust</a:t>
            </a:r>
            <a:r>
              <a:rPr lang="en-US" dirty="0"/>
              <a:t> remember the principle. Then you won’t have </a:t>
            </a:r>
            <a:r>
              <a:rPr lang="en-US" dirty="0" err="1"/>
              <a:t>tospend</a:t>
            </a:r>
            <a:r>
              <a:rPr lang="en-US" dirty="0"/>
              <a:t> time thinking through the pros and cons. Another example is Teachi8ng is the most highly leveraged activity. So if you find yourself in a situation where you never have enough time to do the </a:t>
            </a:r>
            <a:r>
              <a:rPr lang="en-US" dirty="0" err="1"/>
              <a:t>timngs</a:t>
            </a:r>
            <a:r>
              <a:rPr lang="en-US" dirty="0"/>
              <a:t> that need to be done and you are tempted to cut out teaching (in one of its many forms) then remember your get more </a:t>
            </a:r>
            <a:r>
              <a:rPr lang="en-US" dirty="0" err="1"/>
              <a:t>levewrage</a:t>
            </a:r>
            <a:r>
              <a:rPr lang="en-US" dirty="0"/>
              <a:t> out of teaching than any other activity. In any time constrained situation, there are always things that you do not have time enough not to do them. Teaching is a good example.  </a:t>
            </a:r>
          </a:p>
          <a:p>
            <a:endParaRPr lang="en-US" dirty="0"/>
          </a:p>
        </p:txBody>
      </p:sp>
      <p:sp>
        <p:nvSpPr>
          <p:cNvPr id="4" name="Slide Number Placeholder 3"/>
          <p:cNvSpPr>
            <a:spLocks noGrp="1"/>
          </p:cNvSpPr>
          <p:nvPr>
            <p:ph type="sldNum" sz="quarter" idx="5"/>
          </p:nvPr>
        </p:nvSpPr>
        <p:spPr/>
        <p:txBody>
          <a:bodyPr/>
          <a:lstStyle/>
          <a:p>
            <a:fld id="{816EF758-C496-B848-A685-B9F03DFD3900}" type="slidenum">
              <a:rPr lang="en-US" smtClean="0"/>
              <a:t>27</a:t>
            </a:fld>
            <a:endParaRPr lang="en-US"/>
          </a:p>
        </p:txBody>
      </p:sp>
    </p:spTree>
    <p:extLst>
      <p:ext uri="{BB962C8B-B14F-4D97-AF65-F5344CB8AC3E}">
        <p14:creationId xmlns:p14="http://schemas.microsoft.com/office/powerpoint/2010/main" val="3298460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12/4/25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12/4/25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12/4/25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12/4/25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12/4/25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12/4/25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12/4/25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12/4/25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0D05FC-0A49-23A4-6BE0-6B94E287027E}"/>
              </a:ext>
            </a:extLst>
          </p:cNvPr>
          <p:cNvSpPr>
            <a:spLocks noGrp="1"/>
          </p:cNvSpPr>
          <p:nvPr>
            <p:ph type="ctrTitle"/>
          </p:nvPr>
        </p:nvSpPr>
        <p:spPr>
          <a:xfrm>
            <a:off x="1248228" y="1744911"/>
            <a:ext cx="9768115" cy="2098226"/>
          </a:xfrm>
        </p:spPr>
        <p:txBody>
          <a:bodyPr/>
          <a:lstStyle/>
          <a:p>
            <a:r>
              <a:rPr lang="en-US" dirty="0"/>
              <a:t>Repository of True Principles</a:t>
            </a:r>
          </a:p>
        </p:txBody>
      </p:sp>
      <p:sp>
        <p:nvSpPr>
          <p:cNvPr id="5" name="Subtitle 4">
            <a:extLst>
              <a:ext uri="{FF2B5EF4-FFF2-40B4-BE49-F238E27FC236}">
                <a16:creationId xmlns:a16="http://schemas.microsoft.com/office/drawing/2014/main" id="{3C4E2AF5-CD43-1083-9650-C1B57BFCB29A}"/>
              </a:ext>
            </a:extLst>
          </p:cNvPr>
          <p:cNvSpPr>
            <a:spLocks noGrp="1"/>
          </p:cNvSpPr>
          <p:nvPr>
            <p:ph type="subTitle" idx="1"/>
          </p:nvPr>
        </p:nvSpPr>
        <p:spPr/>
        <p:txBody>
          <a:bodyPr>
            <a:normAutofit/>
          </a:bodyPr>
          <a:lstStyle/>
          <a:p>
            <a:endParaRPr lang="en-US" sz="3200" dirty="0"/>
          </a:p>
        </p:txBody>
      </p:sp>
    </p:spTree>
    <p:extLst>
      <p:ext uri="{BB962C8B-B14F-4D97-AF65-F5344CB8AC3E}">
        <p14:creationId xmlns:p14="http://schemas.microsoft.com/office/powerpoint/2010/main" val="489079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8C89EA62-F38E-4285-A105-C5E1BD3600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4" name="Freeform 6">
              <a:extLst>
                <a:ext uri="{FF2B5EF4-FFF2-40B4-BE49-F238E27FC236}">
                  <a16:creationId xmlns:a16="http://schemas.microsoft.com/office/drawing/2014/main" id="{2CF6E46A-CCCD-4728-B011-E147B2362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5" name="Freeform 6">
              <a:extLst>
                <a:ext uri="{FF2B5EF4-FFF2-40B4-BE49-F238E27FC236}">
                  <a16:creationId xmlns:a16="http://schemas.microsoft.com/office/drawing/2014/main" id="{2E2C684B-30C9-4689-A529-EBF1B8ADB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 useBgFill="1">
        <p:nvSpPr>
          <p:cNvPr id="17" name="Rectangle 16">
            <a:extLst>
              <a:ext uri="{FF2B5EF4-FFF2-40B4-BE49-F238E27FC236}">
                <a16:creationId xmlns:a16="http://schemas.microsoft.com/office/drawing/2014/main" id="{D8E74CFB-EAAD-43E9-BDAC-AAE4F8E86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6E31D67-858D-409A-863E-EE8DEB9CC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3157728"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Freeform 6">
            <a:extLst>
              <a:ext uri="{FF2B5EF4-FFF2-40B4-BE49-F238E27FC236}">
                <a16:creationId xmlns:a16="http://schemas.microsoft.com/office/drawing/2014/main" id="{0C11AD76-2664-4F1B-8A6E-71601C059E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3922753"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sp>
        <p:nvSpPr>
          <p:cNvPr id="8" name="Title 7">
            <a:extLst>
              <a:ext uri="{FF2B5EF4-FFF2-40B4-BE49-F238E27FC236}">
                <a16:creationId xmlns:a16="http://schemas.microsoft.com/office/drawing/2014/main" id="{02FC7C9D-C4EC-F729-15C7-FE6996858E7D}"/>
              </a:ext>
            </a:extLst>
          </p:cNvPr>
          <p:cNvSpPr>
            <a:spLocks noGrp="1"/>
          </p:cNvSpPr>
          <p:nvPr>
            <p:ph type="title"/>
          </p:nvPr>
        </p:nvSpPr>
        <p:spPr>
          <a:xfrm>
            <a:off x="4648417" y="1480930"/>
            <a:ext cx="6778558" cy="3254321"/>
          </a:xfrm>
        </p:spPr>
        <p:txBody>
          <a:bodyPr vert="horz" lIns="91440" tIns="45720" rIns="91440" bIns="45720" rtlCol="0" anchor="b">
            <a:normAutofit/>
          </a:bodyPr>
          <a:lstStyle/>
          <a:p>
            <a:r>
              <a:rPr lang="en-US" sz="3600" cap="all" dirty="0"/>
              <a:t>Mission: To Establish an Interactive Repository That Defines, Examines, and Curates the Set of Known True Principles </a:t>
            </a:r>
          </a:p>
        </p:txBody>
      </p:sp>
    </p:spTree>
    <p:extLst>
      <p:ext uri="{BB962C8B-B14F-4D97-AF65-F5344CB8AC3E}">
        <p14:creationId xmlns:p14="http://schemas.microsoft.com/office/powerpoint/2010/main" val="2716051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FB7CD-C3A9-950D-921A-0F011F5CE5E9}"/>
              </a:ext>
            </a:extLst>
          </p:cNvPr>
          <p:cNvSpPr>
            <a:spLocks noGrp="1"/>
          </p:cNvSpPr>
          <p:nvPr>
            <p:ph type="title"/>
          </p:nvPr>
        </p:nvSpPr>
        <p:spPr>
          <a:xfrm>
            <a:off x="1371600" y="228601"/>
            <a:ext cx="9601200" cy="762000"/>
          </a:xfrm>
        </p:spPr>
        <p:txBody>
          <a:bodyPr/>
          <a:lstStyle/>
          <a:p>
            <a:r>
              <a:rPr lang="en-US" dirty="0"/>
              <a:t>Logistics</a:t>
            </a:r>
          </a:p>
        </p:txBody>
      </p:sp>
      <p:sp>
        <p:nvSpPr>
          <p:cNvPr id="4" name="Content Placeholder 3">
            <a:extLst>
              <a:ext uri="{FF2B5EF4-FFF2-40B4-BE49-F238E27FC236}">
                <a16:creationId xmlns:a16="http://schemas.microsoft.com/office/drawing/2014/main" id="{0CC09B13-BE59-47E4-9C0D-750C5FB1147A}"/>
              </a:ext>
            </a:extLst>
          </p:cNvPr>
          <p:cNvSpPr>
            <a:spLocks noGrp="1"/>
          </p:cNvSpPr>
          <p:nvPr>
            <p:ph idx="1"/>
          </p:nvPr>
        </p:nvSpPr>
        <p:spPr>
          <a:xfrm>
            <a:off x="1371600" y="990601"/>
            <a:ext cx="9601200" cy="4876799"/>
          </a:xfrm>
        </p:spPr>
        <p:txBody>
          <a:bodyPr>
            <a:normAutofit fontScale="70000" lnSpcReduction="20000"/>
          </a:bodyPr>
          <a:lstStyle/>
          <a:p>
            <a:r>
              <a:rPr lang="en-US" dirty="0"/>
              <a:t>Choose common technology tools</a:t>
            </a:r>
          </a:p>
          <a:p>
            <a:pPr lvl="1"/>
            <a:r>
              <a:rPr lang="en-US" dirty="0"/>
              <a:t>Zoom?</a:t>
            </a:r>
          </a:p>
          <a:p>
            <a:pPr lvl="1"/>
            <a:r>
              <a:rPr lang="en-US" dirty="0"/>
              <a:t>Google docs or MS Word</a:t>
            </a:r>
          </a:p>
          <a:p>
            <a:pPr lvl="1"/>
            <a:r>
              <a:rPr lang="en-US" dirty="0"/>
              <a:t>Mac!!!</a:t>
            </a:r>
          </a:p>
          <a:p>
            <a:pPr lvl="1"/>
            <a:r>
              <a:rPr lang="en-US" dirty="0"/>
              <a:t>Teams or other collaboration tools</a:t>
            </a:r>
          </a:p>
          <a:p>
            <a:pPr lvl="1"/>
            <a:r>
              <a:rPr lang="en-US" dirty="0"/>
              <a:t>Billing platform</a:t>
            </a:r>
          </a:p>
          <a:p>
            <a:pPr lvl="1"/>
            <a:r>
              <a:rPr lang="en-US" dirty="0"/>
              <a:t>Translation to Portuguese</a:t>
            </a:r>
          </a:p>
          <a:p>
            <a:r>
              <a:rPr lang="en-US" dirty="0"/>
              <a:t>What does Atul need to build?</a:t>
            </a:r>
          </a:p>
          <a:p>
            <a:r>
              <a:rPr lang="en-US" dirty="0"/>
              <a:t>Initial team</a:t>
            </a:r>
          </a:p>
          <a:p>
            <a:pPr lvl="1"/>
            <a:r>
              <a:rPr lang="en-US" dirty="0"/>
              <a:t>Nicky Taylor</a:t>
            </a:r>
          </a:p>
          <a:p>
            <a:pPr lvl="1"/>
            <a:r>
              <a:rPr lang="en-US" dirty="0"/>
              <a:t>Atul Sehgal</a:t>
            </a:r>
          </a:p>
          <a:p>
            <a:pPr lvl="1"/>
            <a:r>
              <a:rPr lang="en-US" dirty="0"/>
              <a:t>Kevan Mills</a:t>
            </a:r>
          </a:p>
          <a:p>
            <a:pPr lvl="1"/>
            <a:r>
              <a:rPr lang="en-US" dirty="0"/>
              <a:t>One American and one Brazilian missionary</a:t>
            </a:r>
          </a:p>
          <a:p>
            <a:pPr lvl="1"/>
            <a:r>
              <a:rPr lang="en-US" dirty="0"/>
              <a:t>Don Russell</a:t>
            </a:r>
          </a:p>
          <a:p>
            <a:pPr lvl="1"/>
            <a:r>
              <a:rPr lang="en-US" dirty="0"/>
              <a:t>GDK</a:t>
            </a:r>
          </a:p>
          <a:p>
            <a:r>
              <a:rPr lang="en-US" dirty="0"/>
              <a:t>Compile list of requirements, assignments and delivery dates to go live</a:t>
            </a:r>
          </a:p>
          <a:p>
            <a:r>
              <a:rPr lang="en-US" dirty="0"/>
              <a:t>What kind of technology do Nicky, Atul, and I need to hold podcasts? Meet Barbara Morgan Gardner to discuss</a:t>
            </a:r>
          </a:p>
          <a:p>
            <a:r>
              <a:rPr lang="en-US" dirty="0"/>
              <a:t>Compile preliminary budget and ball-park compensation for initial team</a:t>
            </a:r>
          </a:p>
          <a:p>
            <a:pPr marL="0" indent="0">
              <a:buNone/>
            </a:pPr>
            <a:endParaRPr lang="en-US" dirty="0"/>
          </a:p>
          <a:p>
            <a:pPr lvl="1"/>
            <a:endParaRPr lang="en-US" dirty="0"/>
          </a:p>
        </p:txBody>
      </p:sp>
    </p:spTree>
    <p:extLst>
      <p:ext uri="{BB962C8B-B14F-4D97-AF65-F5344CB8AC3E}">
        <p14:creationId xmlns:p14="http://schemas.microsoft.com/office/powerpoint/2010/main" val="3817816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667E1-7236-637B-FE87-522986D7F795}"/>
              </a:ext>
            </a:extLst>
          </p:cNvPr>
          <p:cNvSpPr>
            <a:spLocks noGrp="1"/>
          </p:cNvSpPr>
          <p:nvPr>
            <p:ph type="title"/>
          </p:nvPr>
        </p:nvSpPr>
        <p:spPr/>
        <p:txBody>
          <a:bodyPr/>
          <a:lstStyle/>
          <a:p>
            <a:r>
              <a:rPr lang="en-US" dirty="0"/>
              <a:t>Primary Objectives</a:t>
            </a:r>
          </a:p>
        </p:txBody>
      </p:sp>
      <p:sp>
        <p:nvSpPr>
          <p:cNvPr id="3" name="Content Placeholder 2">
            <a:extLst>
              <a:ext uri="{FF2B5EF4-FFF2-40B4-BE49-F238E27FC236}">
                <a16:creationId xmlns:a16="http://schemas.microsoft.com/office/drawing/2014/main" id="{28E46DF9-C9C0-7C6D-DD9E-154970FDAC88}"/>
              </a:ext>
            </a:extLst>
          </p:cNvPr>
          <p:cNvSpPr>
            <a:spLocks noGrp="1"/>
          </p:cNvSpPr>
          <p:nvPr>
            <p:ph idx="1"/>
          </p:nvPr>
        </p:nvSpPr>
        <p:spPr>
          <a:xfrm>
            <a:off x="1371599" y="1655805"/>
            <a:ext cx="9149256" cy="5053913"/>
          </a:xfrm>
        </p:spPr>
        <p:txBody>
          <a:bodyPr>
            <a:normAutofit fontScale="85000" lnSpcReduction="20000"/>
          </a:bodyPr>
          <a:lstStyle/>
          <a:p>
            <a:r>
              <a:rPr lang="en-US" sz="2400" dirty="0"/>
              <a:t>Every user should be able to derive value that makes a difference in their lives</a:t>
            </a:r>
          </a:p>
          <a:p>
            <a:r>
              <a:rPr lang="en-US" sz="2400" dirty="0"/>
              <a:t>Make a broad difference for some and a deep difference for others</a:t>
            </a:r>
          </a:p>
          <a:p>
            <a:r>
              <a:rPr lang="en-US" sz="2400" dirty="0"/>
              <a:t>Contribute meaningfully to the overall effectiveness of society </a:t>
            </a:r>
          </a:p>
          <a:p>
            <a:r>
              <a:rPr lang="en-US" sz="2400" dirty="0"/>
              <a:t>Foster a dialog that captures and perfects pure truths</a:t>
            </a:r>
          </a:p>
          <a:p>
            <a:r>
              <a:rPr lang="en-US" sz="2400" dirty="0"/>
              <a:t>Leave a legacy and provide a forum to collect, curate, and catalog hundreds of Universal Principles</a:t>
            </a:r>
          </a:p>
          <a:p>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Provide a way for me to keep my mind active while working as much or as little as I want</a:t>
            </a:r>
            <a:endParaRPr lang="en-US" sz="2400" dirty="0"/>
          </a:p>
          <a:p>
            <a:r>
              <a:rPr lang="en-US" sz="2400" dirty="0"/>
              <a:t>Generate supplemental income for me and other members of the team</a:t>
            </a:r>
          </a:p>
          <a:p>
            <a:pPr marL="873252" lvl="1" indent="-342900">
              <a:spcBef>
                <a:spcPts val="0"/>
              </a:spcBef>
              <a:spcAft>
                <a:spcPts val="0"/>
              </a:spcAft>
              <a:buFont typeface="Arial" panose="020B0604020202020204" pitchFamily="34" charset="0"/>
              <a:buChar char="•"/>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Gain interest from 500,000 Users who have come to the site</a:t>
            </a:r>
          </a:p>
          <a:p>
            <a:pPr marL="873252" lvl="1" indent="-342900">
              <a:spcBef>
                <a:spcPts val="0"/>
              </a:spcBef>
              <a:spcAft>
                <a:spcPts val="0"/>
              </a:spcAft>
              <a:buFont typeface="Arial" panose="020B0604020202020204" pitchFamily="34" charset="0"/>
              <a:buChar char="•"/>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Generate recurring interest in 100,000 Members such that they derive tangible benefit from their engagement</a:t>
            </a:r>
          </a:p>
          <a:p>
            <a:pPr marL="873252" lvl="1" indent="-342900">
              <a:spcBef>
                <a:spcPts val="0"/>
              </a:spcBef>
              <a:spcAft>
                <a:spcPts val="0"/>
              </a:spcAft>
              <a:buFont typeface="Arial" panose="020B0604020202020204" pitchFamily="34" charset="0"/>
              <a:buChar char="•"/>
              <a:tabLst>
                <a:tab pos="457200" algn="l"/>
              </a:tabLst>
            </a:pP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Generate wide interest from 10,000 Subscribers who pay a monthly or annual subscription</a:t>
            </a: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873252" lvl="1" indent="-342900">
              <a:spcBef>
                <a:spcPts val="0"/>
              </a:spcBef>
              <a:spcAft>
                <a:spcPts val="0"/>
              </a:spcAft>
              <a:buFont typeface="Arial" panose="020B0604020202020204" pitchFamily="34" charset="0"/>
              <a:buChar char="•"/>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Generate deep interest from 2,000 Contributors such that they become tangibly more proficient by utilizing the True Principles presented on this site</a:t>
            </a:r>
          </a:p>
          <a:p>
            <a:endParaRPr lang="en-US" dirty="0"/>
          </a:p>
        </p:txBody>
      </p:sp>
    </p:spTree>
    <p:extLst>
      <p:ext uri="{BB962C8B-B14F-4D97-AF65-F5344CB8AC3E}">
        <p14:creationId xmlns:p14="http://schemas.microsoft.com/office/powerpoint/2010/main" val="2241621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93A8-DB5E-7649-0043-20EBF402E65E}"/>
              </a:ext>
            </a:extLst>
          </p:cNvPr>
          <p:cNvSpPr>
            <a:spLocks noGrp="1"/>
          </p:cNvSpPr>
          <p:nvPr>
            <p:ph type="title"/>
          </p:nvPr>
        </p:nvSpPr>
        <p:spPr/>
        <p:txBody>
          <a:bodyPr/>
          <a:lstStyle/>
          <a:p>
            <a:r>
              <a:rPr lang="en-US" dirty="0"/>
              <a:t>Secondary Objectives</a:t>
            </a:r>
          </a:p>
        </p:txBody>
      </p:sp>
      <p:sp>
        <p:nvSpPr>
          <p:cNvPr id="3" name="Content Placeholder 2">
            <a:extLst>
              <a:ext uri="{FF2B5EF4-FFF2-40B4-BE49-F238E27FC236}">
                <a16:creationId xmlns:a16="http://schemas.microsoft.com/office/drawing/2014/main" id="{8ED5E99B-DFBE-2A9F-D205-E4EDACC1E6C8}"/>
              </a:ext>
            </a:extLst>
          </p:cNvPr>
          <p:cNvSpPr>
            <a:spLocks noGrp="1"/>
          </p:cNvSpPr>
          <p:nvPr>
            <p:ph idx="1"/>
          </p:nvPr>
        </p:nvSpPr>
        <p:spPr>
          <a:xfrm>
            <a:off x="1371600" y="1698178"/>
            <a:ext cx="9601200" cy="4273997"/>
          </a:xfrm>
        </p:spPr>
        <p:txBody>
          <a:bodyPr>
            <a:normAutofit/>
          </a:bodyPr>
          <a:lstStyle/>
          <a:p>
            <a:pPr marR="0" lvl="0">
              <a:tabLst>
                <a:tab pos="457200" algn="l"/>
              </a:tabLst>
            </a:pPr>
            <a:r>
              <a:rPr lang="en-US" sz="2000" dirty="0"/>
              <a:t>Find the And Solution between a wide community and a deep community</a:t>
            </a:r>
          </a:p>
          <a:p>
            <a:pPr marR="0" lvl="0">
              <a:tabLst>
                <a:tab pos="457200" algn="l"/>
              </a:tabLst>
            </a:pPr>
            <a:r>
              <a:rPr lang="en-US" sz="2000" dirty="0"/>
              <a:t>Assist our </a:t>
            </a:r>
            <a:r>
              <a:rPr lang="en-US" dirty="0"/>
              <a:t>missionaries </a:t>
            </a:r>
            <a:r>
              <a:rPr lang="en-US" sz="2000" dirty="0"/>
              <a:t>in a way that is affordable to them</a:t>
            </a:r>
          </a:p>
          <a:p>
            <a:pPr marR="0" lvl="0">
              <a:tabLst>
                <a:tab pos="457200" algn="l"/>
              </a:tabLst>
            </a:pPr>
            <a:r>
              <a:rPr lang="en-US" sz="2000" dirty="0"/>
              <a:t>Identify at least one revenue source in addition to subscriptions (ads, courses, 3</a:t>
            </a:r>
            <a:r>
              <a:rPr lang="en-US" sz="2000" baseline="30000" dirty="0"/>
              <a:t>rd</a:t>
            </a:r>
            <a:r>
              <a:rPr lang="en-US" sz="2000" dirty="0"/>
              <a:t> Party Courses, Leadership Circle, etc.)</a:t>
            </a:r>
            <a:endParaRPr lang="en-US" dirty="0"/>
          </a:p>
          <a:p>
            <a:r>
              <a:rPr lang="en-US" dirty="0"/>
              <a:t>Find a meaningful way to engage with Bill and Jud</a:t>
            </a:r>
          </a:p>
          <a:p>
            <a:r>
              <a:rPr lang="en-US" dirty="0"/>
              <a:t>Provide “quick start” value that increases over time. </a:t>
            </a:r>
          </a:p>
          <a:p>
            <a:r>
              <a:rPr lang="en-US" dirty="0"/>
              <a:t>Build a business that can provide ongoing value to my posterity</a:t>
            </a:r>
          </a:p>
          <a:p>
            <a:r>
              <a:rPr lang="en-US" dirty="0"/>
              <a:t>Use the principles presented here to make STOD a successful brand</a:t>
            </a:r>
          </a:p>
          <a:p>
            <a:r>
              <a:rPr lang="en-US" dirty="0"/>
              <a:t>Find a way to engage Larry Ellison, Mark </a:t>
            </a:r>
            <a:r>
              <a:rPr lang="en-US" dirty="0" err="1"/>
              <a:t>Bennioff</a:t>
            </a:r>
            <a:r>
              <a:rPr lang="en-US" dirty="0"/>
              <a:t>, Carlos Martins, and Elon Musk</a:t>
            </a:r>
          </a:p>
        </p:txBody>
      </p:sp>
    </p:spTree>
    <p:extLst>
      <p:ext uri="{BB962C8B-B14F-4D97-AF65-F5344CB8AC3E}">
        <p14:creationId xmlns:p14="http://schemas.microsoft.com/office/powerpoint/2010/main" val="268088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7DFA3-3626-3F95-D071-6F14E3A0757F}"/>
              </a:ext>
            </a:extLst>
          </p:cNvPr>
          <p:cNvSpPr>
            <a:spLocks noGrp="1"/>
          </p:cNvSpPr>
          <p:nvPr>
            <p:ph type="title"/>
          </p:nvPr>
        </p:nvSpPr>
        <p:spPr/>
        <p:txBody>
          <a:bodyPr/>
          <a:lstStyle/>
          <a:p>
            <a:r>
              <a:rPr lang="en-US" dirty="0"/>
              <a:t>Components of Value</a:t>
            </a:r>
          </a:p>
        </p:txBody>
      </p:sp>
      <p:sp>
        <p:nvSpPr>
          <p:cNvPr id="3" name="Content Placeholder 2">
            <a:extLst>
              <a:ext uri="{FF2B5EF4-FFF2-40B4-BE49-F238E27FC236}">
                <a16:creationId xmlns:a16="http://schemas.microsoft.com/office/drawing/2014/main" id="{C2A33E43-29F3-C140-7CA2-FF66EAF6DAF5}"/>
              </a:ext>
            </a:extLst>
          </p:cNvPr>
          <p:cNvSpPr>
            <a:spLocks noGrp="1"/>
          </p:cNvSpPr>
          <p:nvPr>
            <p:ph idx="1"/>
          </p:nvPr>
        </p:nvSpPr>
        <p:spPr/>
        <p:txBody>
          <a:bodyPr>
            <a:normAutofit lnSpcReduction="10000"/>
          </a:bodyPr>
          <a:lstStyle/>
          <a:p>
            <a:r>
              <a:rPr lang="en-US" dirty="0"/>
              <a:t>Read the principles and a short description of each</a:t>
            </a:r>
          </a:p>
          <a:p>
            <a:r>
              <a:rPr lang="en-US" dirty="0"/>
              <a:t>Read a detailed description of each principle plus examples</a:t>
            </a:r>
          </a:p>
          <a:p>
            <a:r>
              <a:rPr lang="en-US" dirty="0"/>
              <a:t>Propose your own principles</a:t>
            </a:r>
          </a:p>
          <a:p>
            <a:r>
              <a:rPr lang="en-US" dirty="0"/>
              <a:t>Participate in principle-centric Real Time events</a:t>
            </a:r>
          </a:p>
          <a:p>
            <a:r>
              <a:rPr lang="en-US" dirty="0"/>
              <a:t>Expose principles defined by members to the curation process</a:t>
            </a:r>
          </a:p>
          <a:p>
            <a:r>
              <a:rPr lang="en-US" dirty="0"/>
              <a:t>Participate in a group discussion about principles proposed by Subscribers and Contributors</a:t>
            </a:r>
          </a:p>
          <a:p>
            <a:r>
              <a:rPr lang="en-US" dirty="0"/>
              <a:t>Participate in the process of curating and validating Universal Principles as proposed by Subscribers and Contributors</a:t>
            </a:r>
          </a:p>
          <a:p>
            <a:pPr marL="0" indent="0">
              <a:buNone/>
            </a:pPr>
            <a:endParaRPr lang="en-US" dirty="0">
              <a:solidFill>
                <a:srgbClr val="FF0000"/>
              </a:solidFill>
            </a:endParaRPr>
          </a:p>
        </p:txBody>
      </p:sp>
    </p:spTree>
    <p:extLst>
      <p:ext uri="{BB962C8B-B14F-4D97-AF65-F5344CB8AC3E}">
        <p14:creationId xmlns:p14="http://schemas.microsoft.com/office/powerpoint/2010/main" val="129521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11DBA-7434-0E21-CCDE-D2E8DE59706A}"/>
              </a:ext>
            </a:extLst>
          </p:cNvPr>
          <p:cNvSpPr>
            <a:spLocks noGrp="1"/>
          </p:cNvSpPr>
          <p:nvPr>
            <p:ph type="title"/>
          </p:nvPr>
        </p:nvSpPr>
        <p:spPr/>
        <p:txBody>
          <a:bodyPr/>
          <a:lstStyle/>
          <a:p>
            <a:r>
              <a:rPr lang="en-US" dirty="0"/>
              <a:t>Technology system needs for True Principles</a:t>
            </a:r>
          </a:p>
        </p:txBody>
      </p:sp>
      <p:sp>
        <p:nvSpPr>
          <p:cNvPr id="3" name="Content Placeholder 2">
            <a:extLst>
              <a:ext uri="{FF2B5EF4-FFF2-40B4-BE49-F238E27FC236}">
                <a16:creationId xmlns:a16="http://schemas.microsoft.com/office/drawing/2014/main" id="{6D304194-A23F-2799-4442-229E2639C41E}"/>
              </a:ext>
            </a:extLst>
          </p:cNvPr>
          <p:cNvSpPr>
            <a:spLocks noGrp="1"/>
          </p:cNvSpPr>
          <p:nvPr>
            <p:ph idx="1"/>
          </p:nvPr>
        </p:nvSpPr>
        <p:spPr/>
        <p:txBody>
          <a:bodyPr>
            <a:normAutofit fontScale="70000" lnSpcReduction="20000"/>
          </a:bodyPr>
          <a:lstStyle/>
          <a:p>
            <a:r>
              <a:rPr lang="en-US" dirty="0"/>
              <a:t>Own domain name</a:t>
            </a:r>
          </a:p>
          <a:p>
            <a:r>
              <a:rPr lang="en-US" dirty="0"/>
              <a:t>Flexibility is necessary since we have no idea where the site will go</a:t>
            </a:r>
          </a:p>
          <a:p>
            <a:r>
              <a:rPr lang="en-US" dirty="0"/>
              <a:t>Need a very robust </a:t>
            </a:r>
            <a:r>
              <a:rPr lang="en-US"/>
              <a:t>permissions model</a:t>
            </a:r>
            <a:endParaRPr lang="en-US" dirty="0"/>
          </a:p>
          <a:p>
            <a:r>
              <a:rPr lang="en-US" dirty="0"/>
              <a:t>Need to be able to serve ads</a:t>
            </a:r>
          </a:p>
          <a:p>
            <a:r>
              <a:rPr lang="en-US" dirty="0"/>
              <a:t>Need credit card processing for multiple payment plans/ monthly annual/quarterly</a:t>
            </a:r>
          </a:p>
          <a:p>
            <a:r>
              <a:rPr lang="en-US" dirty="0"/>
              <a:t>Need a flexible database design</a:t>
            </a:r>
          </a:p>
          <a:p>
            <a:r>
              <a:rPr lang="en-US" dirty="0"/>
              <a:t>How can the site take advantage of AI?</a:t>
            </a:r>
          </a:p>
          <a:p>
            <a:r>
              <a:rPr lang="en-US" dirty="0"/>
              <a:t>Do we need a CMS? Which one?</a:t>
            </a:r>
          </a:p>
          <a:p>
            <a:r>
              <a:rPr lang="en-US" dirty="0"/>
              <a:t>Need to be able to screen Q and A to eliminate trolls</a:t>
            </a:r>
          </a:p>
          <a:p>
            <a:r>
              <a:rPr lang="en-US" dirty="0"/>
              <a:t>Need to be able to register people for RTEs and then invite Members on short notice</a:t>
            </a:r>
          </a:p>
          <a:p>
            <a:r>
              <a:rPr lang="en-US" dirty="0"/>
              <a:t>Need a way for Members, Sub, Contributors, etc. to enter their principles</a:t>
            </a:r>
          </a:p>
        </p:txBody>
      </p:sp>
    </p:spTree>
    <p:extLst>
      <p:ext uri="{BB962C8B-B14F-4D97-AF65-F5344CB8AC3E}">
        <p14:creationId xmlns:p14="http://schemas.microsoft.com/office/powerpoint/2010/main" val="176082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709ADC9-6EAF-4268-9415-1ED5ECFA2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edding signage on a tree">
            <a:extLst>
              <a:ext uri="{FF2B5EF4-FFF2-40B4-BE49-F238E27FC236}">
                <a16:creationId xmlns:a16="http://schemas.microsoft.com/office/drawing/2014/main" id="{559AC4FE-B343-5C80-1081-416F4FF4CFE3}"/>
              </a:ext>
            </a:extLst>
          </p:cNvPr>
          <p:cNvPicPr>
            <a:picLocks noChangeAspect="1"/>
          </p:cNvPicPr>
          <p:nvPr/>
        </p:nvPicPr>
        <p:blipFill>
          <a:blip r:embed="rId2">
            <a:alphaModFix amt="40000"/>
          </a:blip>
          <a:srcRect t="10271" b="5459"/>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0551A01-249D-CB3D-03C1-E1A58115334E}"/>
              </a:ext>
            </a:extLst>
          </p:cNvPr>
          <p:cNvSpPr>
            <a:spLocks noGrp="1"/>
          </p:cNvSpPr>
          <p:nvPr>
            <p:ph type="ctrTitle"/>
          </p:nvPr>
        </p:nvSpPr>
        <p:spPr>
          <a:xfrm>
            <a:off x="1915128" y="1788454"/>
            <a:ext cx="8361229" cy="2098226"/>
          </a:xfrm>
        </p:spPr>
        <p:txBody>
          <a:bodyPr>
            <a:normAutofit/>
          </a:bodyPr>
          <a:lstStyle/>
          <a:p>
            <a:r>
              <a:rPr lang="en-US" dirty="0"/>
              <a:t>Welcome Screen</a:t>
            </a:r>
          </a:p>
        </p:txBody>
      </p:sp>
      <p:sp>
        <p:nvSpPr>
          <p:cNvPr id="3" name="Subtitle 2">
            <a:extLst>
              <a:ext uri="{FF2B5EF4-FFF2-40B4-BE49-F238E27FC236}">
                <a16:creationId xmlns:a16="http://schemas.microsoft.com/office/drawing/2014/main" id="{1B40B498-88FB-BD0D-F4AF-5E2664AD2C68}"/>
              </a:ext>
            </a:extLst>
          </p:cNvPr>
          <p:cNvSpPr>
            <a:spLocks noGrp="1"/>
          </p:cNvSpPr>
          <p:nvPr>
            <p:ph type="subTitle" idx="1"/>
          </p:nvPr>
        </p:nvSpPr>
        <p:spPr>
          <a:xfrm>
            <a:off x="2679906" y="3956279"/>
            <a:ext cx="6831673" cy="1086237"/>
          </a:xfrm>
        </p:spPr>
        <p:txBody>
          <a:bodyPr>
            <a:normAutofit/>
          </a:bodyPr>
          <a:lstStyle/>
          <a:p>
            <a:pPr>
              <a:spcAft>
                <a:spcPts val="600"/>
              </a:spcAft>
            </a:pPr>
            <a:r>
              <a:rPr lang="en-US" dirty="0"/>
              <a:t>Brief Description of True Principles and Why Behind It</a:t>
            </a:r>
          </a:p>
        </p:txBody>
      </p:sp>
    </p:spTree>
    <p:extLst>
      <p:ext uri="{BB962C8B-B14F-4D97-AF65-F5344CB8AC3E}">
        <p14:creationId xmlns:p14="http://schemas.microsoft.com/office/powerpoint/2010/main" val="22249216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56F7-AD82-F9E8-4B92-63C9D21F7E69}"/>
              </a:ext>
            </a:extLst>
          </p:cNvPr>
          <p:cNvSpPr>
            <a:spLocks noGrp="1"/>
          </p:cNvSpPr>
          <p:nvPr>
            <p:ph type="title"/>
          </p:nvPr>
        </p:nvSpPr>
        <p:spPr/>
        <p:txBody>
          <a:bodyPr/>
          <a:lstStyle/>
          <a:p>
            <a:r>
              <a:rPr lang="en-US" dirty="0"/>
              <a:t>Validation screen (might be part of first screen)</a:t>
            </a:r>
          </a:p>
        </p:txBody>
      </p:sp>
      <p:sp>
        <p:nvSpPr>
          <p:cNvPr id="3" name="Content Placeholder 2">
            <a:extLst>
              <a:ext uri="{FF2B5EF4-FFF2-40B4-BE49-F238E27FC236}">
                <a16:creationId xmlns:a16="http://schemas.microsoft.com/office/drawing/2014/main" id="{2327A1D6-E718-1423-94EE-BBB5B6029957}"/>
              </a:ext>
            </a:extLst>
          </p:cNvPr>
          <p:cNvSpPr>
            <a:spLocks noGrp="1"/>
          </p:cNvSpPr>
          <p:nvPr>
            <p:ph idx="1"/>
          </p:nvPr>
        </p:nvSpPr>
        <p:spPr/>
        <p:txBody>
          <a:bodyPr/>
          <a:lstStyle/>
          <a:p>
            <a:r>
              <a:rPr lang="en-US" dirty="0" err="1"/>
              <a:t>Signin</a:t>
            </a:r>
            <a:r>
              <a:rPr lang="en-US" dirty="0"/>
              <a:t>, </a:t>
            </a:r>
          </a:p>
          <a:p>
            <a:pPr lvl="1"/>
            <a:r>
              <a:rPr lang="en-US" dirty="0"/>
              <a:t>Determines access privileges</a:t>
            </a:r>
          </a:p>
          <a:p>
            <a:pPr lvl="1"/>
            <a:r>
              <a:rPr lang="en-US" dirty="0"/>
              <a:t>Present message that motivates the user to upgrade to next level </a:t>
            </a:r>
          </a:p>
          <a:p>
            <a:r>
              <a:rPr lang="en-US" dirty="0"/>
              <a:t>Signup</a:t>
            </a:r>
          </a:p>
          <a:p>
            <a:pPr lvl="1"/>
            <a:r>
              <a:rPr lang="en-US" dirty="0"/>
              <a:t>Collect email address and phone number</a:t>
            </a:r>
          </a:p>
          <a:p>
            <a:pPr lvl="1"/>
            <a:r>
              <a:rPr lang="en-US" dirty="0"/>
              <a:t>Present a ”fast start” benefit to them</a:t>
            </a:r>
          </a:p>
          <a:p>
            <a:r>
              <a:rPr lang="en-US" dirty="0"/>
              <a:t>Continue</a:t>
            </a:r>
          </a:p>
          <a:p>
            <a:pPr lvl="1"/>
            <a:r>
              <a:rPr lang="en-US" dirty="0"/>
              <a:t>Show something valuable (but no too much) as an incentive to upgrade</a:t>
            </a:r>
          </a:p>
          <a:p>
            <a:r>
              <a:rPr lang="en-US" dirty="0"/>
              <a:t>Track Recommended by or how they heard about us? </a:t>
            </a:r>
          </a:p>
        </p:txBody>
      </p:sp>
    </p:spTree>
    <p:extLst>
      <p:ext uri="{BB962C8B-B14F-4D97-AF65-F5344CB8AC3E}">
        <p14:creationId xmlns:p14="http://schemas.microsoft.com/office/powerpoint/2010/main" val="3942170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CE4F-B6D8-2E39-826C-E92988F35F88}"/>
              </a:ext>
            </a:extLst>
          </p:cNvPr>
          <p:cNvSpPr>
            <a:spLocks noGrp="1"/>
          </p:cNvSpPr>
          <p:nvPr>
            <p:ph type="title"/>
          </p:nvPr>
        </p:nvSpPr>
        <p:spPr/>
        <p:txBody>
          <a:bodyPr/>
          <a:lstStyle/>
          <a:p>
            <a:r>
              <a:rPr lang="en-US" dirty="0"/>
              <a:t>Lookers (casual users)</a:t>
            </a:r>
          </a:p>
        </p:txBody>
      </p:sp>
      <p:sp>
        <p:nvSpPr>
          <p:cNvPr id="3" name="Content Placeholder 2">
            <a:extLst>
              <a:ext uri="{FF2B5EF4-FFF2-40B4-BE49-F238E27FC236}">
                <a16:creationId xmlns:a16="http://schemas.microsoft.com/office/drawing/2014/main" id="{CC3FA397-E026-63F7-D555-AE51B3121F0F}"/>
              </a:ext>
            </a:extLst>
          </p:cNvPr>
          <p:cNvSpPr>
            <a:spLocks noGrp="1"/>
          </p:cNvSpPr>
          <p:nvPr>
            <p:ph idx="1"/>
          </p:nvPr>
        </p:nvSpPr>
        <p:spPr/>
        <p:txBody>
          <a:bodyPr>
            <a:normAutofit lnSpcReduction="10000"/>
          </a:bodyPr>
          <a:lstStyle/>
          <a:p>
            <a:r>
              <a:rPr lang="en-US" dirty="0"/>
              <a:t>Come to the site at least one time</a:t>
            </a:r>
          </a:p>
          <a:p>
            <a:r>
              <a:rPr lang="en-US" dirty="0"/>
              <a:t>Can see one principle a day</a:t>
            </a:r>
          </a:p>
          <a:p>
            <a:r>
              <a:rPr lang="en-US" dirty="0"/>
              <a:t>Goal for the first 12 months is 500,000</a:t>
            </a:r>
          </a:p>
          <a:p>
            <a:r>
              <a:rPr lang="en-US" dirty="0"/>
              <a:t>The goal is to convert 50% to become Members</a:t>
            </a:r>
          </a:p>
          <a:p>
            <a:r>
              <a:rPr lang="en-US" dirty="0"/>
              <a:t>Serve up Principle of the Day</a:t>
            </a:r>
          </a:p>
          <a:p>
            <a:r>
              <a:rPr lang="en-US" dirty="0"/>
              <a:t>Provide some content that encourages the Lookers to become members: such as schedule of Real Time Events (RTEs), archived RTEs that apply to the principle of the day, etc.</a:t>
            </a:r>
          </a:p>
          <a:p>
            <a:r>
              <a:rPr lang="en-US" dirty="0"/>
              <a:t>Track how long they spend on the site, pages visited, etc.</a:t>
            </a:r>
          </a:p>
          <a:p>
            <a:endParaRPr lang="en-US" dirty="0"/>
          </a:p>
          <a:p>
            <a:endParaRPr lang="en-US" dirty="0"/>
          </a:p>
        </p:txBody>
      </p:sp>
    </p:spTree>
    <p:extLst>
      <p:ext uri="{BB962C8B-B14F-4D97-AF65-F5344CB8AC3E}">
        <p14:creationId xmlns:p14="http://schemas.microsoft.com/office/powerpoint/2010/main" val="3321182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22FED-529D-4C29-8A27-48E860115E60}"/>
              </a:ext>
            </a:extLst>
          </p:cNvPr>
          <p:cNvSpPr>
            <a:spLocks noGrp="1"/>
          </p:cNvSpPr>
          <p:nvPr>
            <p:ph type="title"/>
          </p:nvPr>
        </p:nvSpPr>
        <p:spPr>
          <a:xfrm>
            <a:off x="1371599" y="685800"/>
            <a:ext cx="10169611" cy="1485900"/>
          </a:xfrm>
        </p:spPr>
        <p:txBody>
          <a:bodyPr/>
          <a:lstStyle/>
          <a:p>
            <a:r>
              <a:rPr lang="en-US" dirty="0"/>
              <a:t>Members (free)</a:t>
            </a:r>
          </a:p>
        </p:txBody>
      </p:sp>
      <p:sp>
        <p:nvSpPr>
          <p:cNvPr id="3" name="Content Placeholder 2">
            <a:extLst>
              <a:ext uri="{FF2B5EF4-FFF2-40B4-BE49-F238E27FC236}">
                <a16:creationId xmlns:a16="http://schemas.microsoft.com/office/drawing/2014/main" id="{A21182C0-600C-1FF3-4802-9B92802D1E96}"/>
              </a:ext>
            </a:extLst>
          </p:cNvPr>
          <p:cNvSpPr>
            <a:spLocks noGrp="1"/>
          </p:cNvSpPr>
          <p:nvPr>
            <p:ph idx="1"/>
          </p:nvPr>
        </p:nvSpPr>
        <p:spPr>
          <a:xfrm>
            <a:off x="1371600" y="1655805"/>
            <a:ext cx="9601200" cy="4782065"/>
          </a:xfrm>
        </p:spPr>
        <p:txBody>
          <a:bodyPr>
            <a:normAutofit fontScale="77500" lnSpcReduction="20000"/>
          </a:bodyPr>
          <a:lstStyle/>
          <a:p>
            <a:r>
              <a:rPr lang="en-US" dirty="0"/>
              <a:t>Capture their email address and phone number</a:t>
            </a:r>
          </a:p>
          <a:p>
            <a:r>
              <a:rPr lang="en-US" dirty="0"/>
              <a:t>Come to the site at least one time per month</a:t>
            </a:r>
          </a:p>
          <a:p>
            <a:r>
              <a:rPr lang="en-US" dirty="0"/>
              <a:t>Goal is 250,000 after the first 12 months</a:t>
            </a:r>
          </a:p>
          <a:p>
            <a:r>
              <a:rPr lang="en-US" dirty="0"/>
              <a:t>Goal is to convert 10% to Subscribers within 12 months</a:t>
            </a:r>
          </a:p>
          <a:p>
            <a:r>
              <a:rPr lang="en-US" dirty="0"/>
              <a:t>Read the title, subtitle, and 2-3 paragraph description of selected principles</a:t>
            </a:r>
          </a:p>
          <a:p>
            <a:r>
              <a:rPr lang="en-US" dirty="0"/>
              <a:t>Members can only see True Principles and potential True Principles they have proposed</a:t>
            </a:r>
          </a:p>
          <a:p>
            <a:r>
              <a:rPr lang="en-US" dirty="0"/>
              <a:t>Propose new principles with no expectation of specific action to be taken by TPC (</a:t>
            </a:r>
            <a:r>
              <a:rPr lang="en-US" dirty="0" err="1"/>
              <a:t>Trueprinciples.com</a:t>
            </a:r>
            <a:r>
              <a:rPr lang="en-US" dirty="0"/>
              <a:t>)</a:t>
            </a:r>
          </a:p>
          <a:p>
            <a:r>
              <a:rPr lang="en-US" dirty="0"/>
              <a:t>Participate in curating principles that they propose if TPC decides to engage</a:t>
            </a:r>
          </a:p>
          <a:p>
            <a:r>
              <a:rPr lang="en-US" dirty="0"/>
              <a:t>See a few videos of GDK and others explaining principles with intent of convincing them to upgrade</a:t>
            </a:r>
          </a:p>
          <a:p>
            <a:r>
              <a:rPr lang="en-US" dirty="0"/>
              <a:t>Need enough content to hook readers so they come frequently and so they subscribe</a:t>
            </a:r>
          </a:p>
          <a:p>
            <a:r>
              <a:rPr lang="en-US" dirty="0"/>
              <a:t>Cannot attend Real-Time discussions</a:t>
            </a:r>
          </a:p>
          <a:p>
            <a:r>
              <a:rPr lang="en-US" dirty="0"/>
              <a:t>Participate in random “free for all” days when they are exposed to much more content than normal. Is there a way to disable them from copying and printing principles that are periodically exposed?</a:t>
            </a:r>
          </a:p>
          <a:p>
            <a:r>
              <a:rPr lang="en-US" dirty="0"/>
              <a:t>There needs to be one big thing that Members want that is not available unless they upgrade </a:t>
            </a:r>
          </a:p>
        </p:txBody>
      </p:sp>
    </p:spTree>
    <p:extLst>
      <p:ext uri="{BB962C8B-B14F-4D97-AF65-F5344CB8AC3E}">
        <p14:creationId xmlns:p14="http://schemas.microsoft.com/office/powerpoint/2010/main" val="2559511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319B-2824-EEC2-51D7-5E88ED21B25E}"/>
              </a:ext>
            </a:extLst>
          </p:cNvPr>
          <p:cNvSpPr>
            <a:spLocks noGrp="1"/>
          </p:cNvSpPr>
          <p:nvPr>
            <p:ph type="title"/>
          </p:nvPr>
        </p:nvSpPr>
        <p:spPr>
          <a:xfrm>
            <a:off x="1159933" y="381000"/>
            <a:ext cx="9872133" cy="1485900"/>
          </a:xfrm>
        </p:spPr>
        <p:txBody>
          <a:bodyPr>
            <a:normAutofit/>
          </a:bodyPr>
          <a:lstStyle/>
          <a:p>
            <a:r>
              <a:rPr lang="en-US" dirty="0"/>
              <a:t>Subscribers 25,000 target—Pay $9.95 per month or $100 per year</a:t>
            </a:r>
          </a:p>
        </p:txBody>
      </p:sp>
      <p:sp>
        <p:nvSpPr>
          <p:cNvPr id="3" name="Content Placeholder 2">
            <a:extLst>
              <a:ext uri="{FF2B5EF4-FFF2-40B4-BE49-F238E27FC236}">
                <a16:creationId xmlns:a16="http://schemas.microsoft.com/office/drawing/2014/main" id="{E61426A5-E7D4-1D5B-DBEB-FDDA08764FBE}"/>
              </a:ext>
            </a:extLst>
          </p:cNvPr>
          <p:cNvSpPr>
            <a:spLocks noGrp="1"/>
          </p:cNvSpPr>
          <p:nvPr>
            <p:ph idx="1"/>
          </p:nvPr>
        </p:nvSpPr>
        <p:spPr>
          <a:xfrm>
            <a:off x="1371600" y="1637071"/>
            <a:ext cx="9601200" cy="5574890"/>
          </a:xfrm>
        </p:spPr>
        <p:txBody>
          <a:bodyPr>
            <a:normAutofit fontScale="85000" lnSpcReduction="20000"/>
          </a:bodyPr>
          <a:lstStyle/>
          <a:p>
            <a:r>
              <a:rPr lang="en-US" dirty="0"/>
              <a:t>Goal is 25,000 at the end of 12 months</a:t>
            </a:r>
          </a:p>
          <a:p>
            <a:r>
              <a:rPr lang="en-US" dirty="0"/>
              <a:t>Pay $9.95 per month or $100 per year. (Is this enough incentive to go go annual”</a:t>
            </a:r>
          </a:p>
          <a:p>
            <a:r>
              <a:rPr lang="en-US" dirty="0"/>
              <a:t>Priority registration in Real Time, Question and Answer Sessions,</a:t>
            </a:r>
          </a:p>
          <a:p>
            <a:r>
              <a:rPr lang="en-US" dirty="0"/>
              <a:t>See all True Principles and concomitant verbiage, see archived videos, and attend RT discussions</a:t>
            </a:r>
          </a:p>
          <a:p>
            <a:r>
              <a:rPr lang="en-US" dirty="0"/>
              <a:t>Our missionaries</a:t>
            </a:r>
          </a:p>
          <a:p>
            <a:pPr lvl="1"/>
            <a:r>
              <a:rPr lang="en-US" dirty="0"/>
              <a:t>Free for 90 days from launch. Show a message like this to them</a:t>
            </a:r>
          </a:p>
          <a:p>
            <a:pPr lvl="1"/>
            <a:r>
              <a:rPr lang="en-US" dirty="0"/>
              <a:t>Must agree to use ”</a:t>
            </a:r>
            <a:r>
              <a:rPr lang="en-US" dirty="0" err="1"/>
              <a:t>metodo</a:t>
            </a:r>
            <a:r>
              <a:rPr lang="en-US" dirty="0"/>
              <a:t> nuclear” for 10 friends</a:t>
            </a:r>
          </a:p>
          <a:p>
            <a:pPr lvl="1"/>
            <a:r>
              <a:rPr lang="en-US" dirty="0"/>
              <a:t>Attend RT discussions on a space available basis</a:t>
            </a:r>
          </a:p>
          <a:p>
            <a:pPr lvl="1"/>
            <a:r>
              <a:rPr lang="en-US" dirty="0"/>
              <a:t>What can we provide to them in Portuguese? Some RTEs, auto translation, etc.</a:t>
            </a:r>
          </a:p>
          <a:p>
            <a:r>
              <a:rPr lang="en-US" dirty="0"/>
              <a:t>Upgrade 10% to Contributors within 12 months</a:t>
            </a:r>
          </a:p>
          <a:p>
            <a:r>
              <a:rPr lang="en-US" dirty="0"/>
              <a:t>Participate in “Real Time” and “Q and A” sessions with Gary and other mods</a:t>
            </a:r>
          </a:p>
          <a:p>
            <a:r>
              <a:rPr lang="en-US" dirty="0"/>
              <a:t>Propose their own principles, participate in discussions of principles, curate new principles</a:t>
            </a:r>
          </a:p>
          <a:p>
            <a:r>
              <a:rPr lang="en-US" dirty="0"/>
              <a:t>Access videos of GDK or other Contributors explaining their principles and then participate in a group discussion</a:t>
            </a:r>
          </a:p>
          <a:p>
            <a:r>
              <a:rPr lang="en-US" dirty="0"/>
              <a:t>Between missionaries, ex-</a:t>
            </a:r>
            <a:r>
              <a:rPr lang="en-US" dirty="0" err="1"/>
              <a:t>TenFold</a:t>
            </a:r>
            <a:r>
              <a:rPr lang="en-US" dirty="0"/>
              <a:t>, ex-Oracle, I should be able to reach 1000 subscribers in the first 60 days</a:t>
            </a:r>
          </a:p>
          <a:p>
            <a:r>
              <a:rPr lang="en-US" dirty="0"/>
              <a:t>How much content do we need to go live?</a:t>
            </a:r>
          </a:p>
          <a:p>
            <a:endParaRPr lang="en-US" dirty="0"/>
          </a:p>
        </p:txBody>
      </p:sp>
    </p:spTree>
    <p:extLst>
      <p:ext uri="{BB962C8B-B14F-4D97-AF65-F5344CB8AC3E}">
        <p14:creationId xmlns:p14="http://schemas.microsoft.com/office/powerpoint/2010/main" val="3316951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01559-E774-81DD-5825-A57AF1A11A94}"/>
              </a:ext>
            </a:extLst>
          </p:cNvPr>
          <p:cNvSpPr>
            <a:spLocks noGrp="1"/>
          </p:cNvSpPr>
          <p:nvPr>
            <p:ph type="title"/>
          </p:nvPr>
        </p:nvSpPr>
        <p:spPr>
          <a:xfrm>
            <a:off x="939115" y="685800"/>
            <a:ext cx="11158150" cy="1485900"/>
          </a:xfrm>
        </p:spPr>
        <p:txBody>
          <a:bodyPr/>
          <a:lstStyle/>
          <a:p>
            <a:r>
              <a:rPr lang="en-US" dirty="0"/>
              <a:t>Contributors or Partners</a:t>
            </a:r>
          </a:p>
        </p:txBody>
      </p:sp>
      <p:sp>
        <p:nvSpPr>
          <p:cNvPr id="3" name="Content Placeholder 2">
            <a:extLst>
              <a:ext uri="{FF2B5EF4-FFF2-40B4-BE49-F238E27FC236}">
                <a16:creationId xmlns:a16="http://schemas.microsoft.com/office/drawing/2014/main" id="{E740273F-6A67-F350-269F-F882A6FC03E8}"/>
              </a:ext>
            </a:extLst>
          </p:cNvPr>
          <p:cNvSpPr>
            <a:spLocks noGrp="1"/>
          </p:cNvSpPr>
          <p:nvPr>
            <p:ph idx="1"/>
          </p:nvPr>
        </p:nvSpPr>
        <p:spPr>
          <a:xfrm>
            <a:off x="1371600" y="2043113"/>
            <a:ext cx="9601200" cy="4129087"/>
          </a:xfrm>
        </p:spPr>
        <p:txBody>
          <a:bodyPr>
            <a:normAutofit fontScale="70000" lnSpcReduction="20000"/>
          </a:bodyPr>
          <a:lstStyle/>
          <a:p>
            <a:pPr marL="0" indent="0">
              <a:buNone/>
            </a:pPr>
            <a:endParaRPr lang="en-US" dirty="0"/>
          </a:p>
          <a:p>
            <a:r>
              <a:rPr lang="en-US" dirty="0"/>
              <a:t>Goal is 2500 after first 12 months</a:t>
            </a:r>
          </a:p>
          <a:p>
            <a:r>
              <a:rPr lang="en-US" dirty="0"/>
              <a:t>Pay $15 per month or $150 per year</a:t>
            </a:r>
          </a:p>
          <a:p>
            <a:r>
              <a:rPr lang="en-US" dirty="0"/>
              <a:t>What causes Subscribers to want to upgrade to Contributors?</a:t>
            </a:r>
          </a:p>
          <a:p>
            <a:r>
              <a:rPr lang="en-US" dirty="0"/>
              <a:t>First priority to attend all TPC events which are limited in the number of participants</a:t>
            </a:r>
          </a:p>
          <a:p>
            <a:r>
              <a:rPr lang="en-US" dirty="0"/>
              <a:t>Participate in discussions regarding principles in languages other than English (initially Portuguese, with Spanish to follow)</a:t>
            </a:r>
          </a:p>
          <a:p>
            <a:r>
              <a:rPr lang="en-US" dirty="0"/>
              <a:t>Engage with me or an admin to discuss principles they have proposed. If we agree that it is valuable to proceed we will ask them for a short description, verbiage, specific examples plus their recommended Take Home Value. An admin will ask 1-2 Hard Questions. Once their principle is codified then they will schedule a Real Time session followed by a Question and Answer session. This session is recorded and made available on the site. </a:t>
            </a:r>
          </a:p>
          <a:p>
            <a:r>
              <a:rPr lang="en-US" dirty="0"/>
              <a:t>Admins will send invitations to RTE (Real Time Events) to our mailing list. </a:t>
            </a:r>
          </a:p>
          <a:p>
            <a:r>
              <a:rPr lang="en-US" dirty="0"/>
              <a:t>Assigned a curator to help determine if their idea is a principle and if so to shape it</a:t>
            </a:r>
          </a:p>
          <a:p>
            <a:r>
              <a:rPr lang="en-US" dirty="0"/>
              <a:t>Participate in a Q and A sessions The site will have another section which contains proposed but </a:t>
            </a:r>
            <a:r>
              <a:rPr lang="en-US" dirty="0" err="1"/>
              <a:t>uncurated</a:t>
            </a:r>
            <a:r>
              <a:rPr lang="en-US" dirty="0"/>
              <a:t> principles. Subscribers and Contributors can see and comment (?) on principles that have not been curated.</a:t>
            </a:r>
          </a:p>
          <a:p>
            <a:endParaRPr lang="en-US" dirty="0"/>
          </a:p>
          <a:p>
            <a:endParaRPr lang="en-US" dirty="0"/>
          </a:p>
        </p:txBody>
      </p:sp>
    </p:spTree>
    <p:extLst>
      <p:ext uri="{BB962C8B-B14F-4D97-AF65-F5344CB8AC3E}">
        <p14:creationId xmlns:p14="http://schemas.microsoft.com/office/powerpoint/2010/main" val="3955790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E8281-54DD-FDAA-7AE8-3F9EDF62051D}"/>
              </a:ext>
            </a:extLst>
          </p:cNvPr>
          <p:cNvSpPr>
            <a:spLocks noGrp="1"/>
          </p:cNvSpPr>
          <p:nvPr>
            <p:ph type="title"/>
          </p:nvPr>
        </p:nvSpPr>
        <p:spPr/>
        <p:txBody>
          <a:bodyPr/>
          <a:lstStyle/>
          <a:p>
            <a:r>
              <a:rPr lang="en-US" dirty="0"/>
              <a:t>Contributors (or partners)</a:t>
            </a:r>
          </a:p>
        </p:txBody>
      </p:sp>
      <p:sp>
        <p:nvSpPr>
          <p:cNvPr id="3" name="Content Placeholder 2">
            <a:extLst>
              <a:ext uri="{FF2B5EF4-FFF2-40B4-BE49-F238E27FC236}">
                <a16:creationId xmlns:a16="http://schemas.microsoft.com/office/drawing/2014/main" id="{8362D53A-B424-254B-66B7-CDD0BF90E9DF}"/>
              </a:ext>
            </a:extLst>
          </p:cNvPr>
          <p:cNvSpPr>
            <a:spLocks noGrp="1"/>
          </p:cNvSpPr>
          <p:nvPr>
            <p:ph idx="1"/>
          </p:nvPr>
        </p:nvSpPr>
        <p:spPr>
          <a:xfrm>
            <a:off x="1582615" y="1383323"/>
            <a:ext cx="9601200" cy="4577862"/>
          </a:xfrm>
        </p:spPr>
        <p:txBody>
          <a:bodyPr>
            <a:normAutofit fontScale="92500" lnSpcReduction="20000"/>
          </a:bodyPr>
          <a:lstStyle/>
          <a:p>
            <a:pPr marL="0" indent="0">
              <a:buNone/>
            </a:pPr>
            <a:endParaRPr lang="en-US" dirty="0"/>
          </a:p>
          <a:p>
            <a:r>
              <a:rPr lang="en-US" dirty="0"/>
              <a:t>See all Universal Principles and other principles including long description and examples</a:t>
            </a:r>
          </a:p>
          <a:p>
            <a:r>
              <a:rPr lang="en-US" dirty="0"/>
              <a:t>Attend weekly principle-centered discussions with GDK</a:t>
            </a:r>
          </a:p>
          <a:p>
            <a:pPr lvl="1"/>
            <a:r>
              <a:rPr lang="en-US" dirty="0"/>
              <a:t>Should this be a presentation about a specific principle followed by a discussion?</a:t>
            </a:r>
          </a:p>
          <a:p>
            <a:pPr lvl="1"/>
            <a:r>
              <a:rPr lang="en-US" dirty="0"/>
              <a:t>Should this be an open session where people bring up principle-centric issues and the group discusses them?</a:t>
            </a:r>
          </a:p>
          <a:p>
            <a:pPr lvl="1"/>
            <a:r>
              <a:rPr lang="en-US" dirty="0"/>
              <a:t>Do we record these for others to hear or record them so we can reuse some of the ideas generated? </a:t>
            </a:r>
          </a:p>
          <a:p>
            <a:r>
              <a:rPr lang="en-US" dirty="0"/>
              <a:t>Participate in the curating process. What does that mean?</a:t>
            </a:r>
          </a:p>
          <a:p>
            <a:r>
              <a:rPr lang="en-US" dirty="0"/>
              <a:t>Can these people help curate principles proposed by others?</a:t>
            </a:r>
          </a:p>
          <a:p>
            <a:r>
              <a:rPr lang="en-US" dirty="0"/>
              <a:t>Attend GDK presentation about a principle and then stay on the call for the discussion.</a:t>
            </a:r>
          </a:p>
          <a:p>
            <a:pPr lvl="1"/>
            <a:r>
              <a:rPr lang="en-US" dirty="0"/>
              <a:t>Should I do this once with the kids and Jane yes</a:t>
            </a:r>
          </a:p>
          <a:p>
            <a:pPr lvl="1"/>
            <a:r>
              <a:rPr lang="en-US" dirty="0"/>
              <a:t>Should I do this one with Missionaries yes</a:t>
            </a:r>
          </a:p>
          <a:p>
            <a:pPr lvl="1"/>
            <a:r>
              <a:rPr lang="en-US" dirty="0"/>
              <a:t>Should I do this once with Brazilian missionaries?</a:t>
            </a:r>
          </a:p>
          <a:p>
            <a:pPr marL="0" indent="0">
              <a:buNone/>
            </a:pP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164675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23E36-A03A-FF11-7B06-CF3E47F08B37}"/>
              </a:ext>
            </a:extLst>
          </p:cNvPr>
          <p:cNvSpPr>
            <a:spLocks noGrp="1"/>
          </p:cNvSpPr>
          <p:nvPr>
            <p:ph type="title"/>
          </p:nvPr>
        </p:nvSpPr>
        <p:spPr/>
        <p:txBody>
          <a:bodyPr/>
          <a:lstStyle/>
          <a:p>
            <a:r>
              <a:rPr lang="en-US" dirty="0"/>
              <a:t>To Do Before Launch (GDK)</a:t>
            </a:r>
          </a:p>
        </p:txBody>
      </p:sp>
      <p:sp>
        <p:nvSpPr>
          <p:cNvPr id="3" name="Content Placeholder 2">
            <a:extLst>
              <a:ext uri="{FF2B5EF4-FFF2-40B4-BE49-F238E27FC236}">
                <a16:creationId xmlns:a16="http://schemas.microsoft.com/office/drawing/2014/main" id="{90FBBA2E-8F80-2DBE-BB17-028E72A0E6AB}"/>
              </a:ext>
            </a:extLst>
          </p:cNvPr>
          <p:cNvSpPr>
            <a:spLocks noGrp="1"/>
          </p:cNvSpPr>
          <p:nvPr>
            <p:ph idx="1"/>
          </p:nvPr>
        </p:nvSpPr>
        <p:spPr>
          <a:xfrm>
            <a:off x="1371600" y="1762539"/>
            <a:ext cx="9601200" cy="4558747"/>
          </a:xfrm>
        </p:spPr>
        <p:txBody>
          <a:bodyPr>
            <a:normAutofit lnSpcReduction="10000"/>
          </a:bodyPr>
          <a:lstStyle/>
          <a:p>
            <a:r>
              <a:rPr lang="en-US" dirty="0"/>
              <a:t>Establish standards for a pattern to qualify as a principle. Should we have multiple levels of principles? Is it valuable to have a list of ideas out there that are not yet curated or certified, or anointed as principles?</a:t>
            </a:r>
          </a:p>
          <a:p>
            <a:r>
              <a:rPr lang="en-US" dirty="0"/>
              <a:t>At least 30 of my principles with a short description of each????</a:t>
            </a:r>
          </a:p>
          <a:p>
            <a:r>
              <a:rPr lang="en-US" dirty="0"/>
              <a:t>Between 10 and 15 principles that include a detailed description?????</a:t>
            </a:r>
          </a:p>
          <a:p>
            <a:r>
              <a:rPr lang="en-US" dirty="0"/>
              <a:t>Sign and train 4-6 curators with varied backgrounds (native Brazilian, American missionary, good writer, workhorse, friend with a tech background, misc.)</a:t>
            </a:r>
          </a:p>
          <a:p>
            <a:r>
              <a:rPr lang="en-US" dirty="0"/>
              <a:t>Produce a skeletal list of 90+ principles that the curators can use to see if there is synergy or overlap</a:t>
            </a:r>
          </a:p>
          <a:p>
            <a:r>
              <a:rPr lang="en-US" dirty="0"/>
              <a:t>Propose pricing tiers. Decide what capabilities we should give away to Members who pay nothing</a:t>
            </a:r>
          </a:p>
          <a:p>
            <a:r>
              <a:rPr lang="en-US" dirty="0"/>
              <a:t>Write a definitive document that lays out the purpose of STOD</a:t>
            </a:r>
          </a:p>
          <a:p>
            <a:r>
              <a:rPr lang="en-US" dirty="0"/>
              <a:t>Note to Linda Archibald to see if she remembers the “so What” incident</a:t>
            </a:r>
          </a:p>
        </p:txBody>
      </p:sp>
    </p:spTree>
    <p:extLst>
      <p:ext uri="{BB962C8B-B14F-4D97-AF65-F5344CB8AC3E}">
        <p14:creationId xmlns:p14="http://schemas.microsoft.com/office/powerpoint/2010/main" val="2509267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816D-2782-2481-38D7-6ED62B42D071}"/>
              </a:ext>
            </a:extLst>
          </p:cNvPr>
          <p:cNvSpPr>
            <a:spLocks noGrp="1"/>
          </p:cNvSpPr>
          <p:nvPr>
            <p:ph type="title"/>
          </p:nvPr>
        </p:nvSpPr>
        <p:spPr/>
        <p:txBody>
          <a:bodyPr/>
          <a:lstStyle/>
          <a:p>
            <a:r>
              <a:rPr lang="en-US" dirty="0"/>
              <a:t>To Do Before Launch (GDK)</a:t>
            </a:r>
          </a:p>
        </p:txBody>
      </p:sp>
      <p:sp>
        <p:nvSpPr>
          <p:cNvPr id="3" name="Content Placeholder 2">
            <a:extLst>
              <a:ext uri="{FF2B5EF4-FFF2-40B4-BE49-F238E27FC236}">
                <a16:creationId xmlns:a16="http://schemas.microsoft.com/office/drawing/2014/main" id="{D9743AC7-A34E-AB4B-F182-2E4148AA6E42}"/>
              </a:ext>
            </a:extLst>
          </p:cNvPr>
          <p:cNvSpPr>
            <a:spLocks noGrp="1"/>
          </p:cNvSpPr>
          <p:nvPr>
            <p:ph idx="1"/>
          </p:nvPr>
        </p:nvSpPr>
        <p:spPr/>
        <p:txBody>
          <a:bodyPr>
            <a:normAutofit fontScale="92500" lnSpcReduction="20000"/>
          </a:bodyPr>
          <a:lstStyle/>
          <a:p>
            <a:r>
              <a:rPr lang="en-US" dirty="0"/>
              <a:t>Establish a more robust social media presence for me</a:t>
            </a:r>
          </a:p>
          <a:p>
            <a:pPr lvl="1"/>
            <a:r>
              <a:rPr lang="en-US" dirty="0"/>
              <a:t>Start using WhatsApp with Brazilian missionaries</a:t>
            </a:r>
          </a:p>
          <a:p>
            <a:pPr lvl="1"/>
            <a:r>
              <a:rPr lang="en-US" dirty="0"/>
              <a:t>Start using Facebook</a:t>
            </a:r>
          </a:p>
          <a:p>
            <a:pPr lvl="1"/>
            <a:r>
              <a:rPr lang="en-US" dirty="0"/>
              <a:t>Start using X</a:t>
            </a:r>
          </a:p>
          <a:p>
            <a:pPr lvl="1"/>
            <a:r>
              <a:rPr lang="en-US" dirty="0"/>
              <a:t>Start using Instagram </a:t>
            </a:r>
          </a:p>
          <a:p>
            <a:r>
              <a:rPr lang="en-US" dirty="0"/>
              <a:t>Obtain the right tools for video recording</a:t>
            </a:r>
          </a:p>
          <a:p>
            <a:r>
              <a:rPr lang="en-US" dirty="0"/>
              <a:t>Meet with Barbara Morgan Gardner to see her setup</a:t>
            </a:r>
          </a:p>
          <a:p>
            <a:r>
              <a:rPr lang="en-US" dirty="0"/>
              <a:t>GDK explain how the process works in a video</a:t>
            </a:r>
          </a:p>
          <a:p>
            <a:r>
              <a:rPr lang="en-US" dirty="0"/>
              <a:t>Summarize the situation or in other words explain the need for something like this</a:t>
            </a:r>
          </a:p>
          <a:p>
            <a:r>
              <a:rPr lang="en-US" dirty="0"/>
              <a:t>Decide if I should include verbiage about a daily consulting engagement with me? </a:t>
            </a:r>
          </a:p>
          <a:p>
            <a:endParaRPr lang="en-US" dirty="0"/>
          </a:p>
        </p:txBody>
      </p:sp>
    </p:spTree>
    <p:extLst>
      <p:ext uri="{BB962C8B-B14F-4D97-AF65-F5344CB8AC3E}">
        <p14:creationId xmlns:p14="http://schemas.microsoft.com/office/powerpoint/2010/main" val="1604772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07A8F-CC04-BBC3-5FE1-0C0AA3E5CF56}"/>
              </a:ext>
            </a:extLst>
          </p:cNvPr>
          <p:cNvSpPr>
            <a:spLocks noGrp="1"/>
          </p:cNvSpPr>
          <p:nvPr>
            <p:ph type="title"/>
          </p:nvPr>
        </p:nvSpPr>
        <p:spPr/>
        <p:txBody>
          <a:bodyPr/>
          <a:lstStyle/>
          <a:p>
            <a:r>
              <a:rPr lang="en-US" dirty="0"/>
              <a:t>To Do Before Launch</a:t>
            </a:r>
          </a:p>
        </p:txBody>
      </p:sp>
      <p:sp>
        <p:nvSpPr>
          <p:cNvPr id="3" name="Content Placeholder 2">
            <a:extLst>
              <a:ext uri="{FF2B5EF4-FFF2-40B4-BE49-F238E27FC236}">
                <a16:creationId xmlns:a16="http://schemas.microsoft.com/office/drawing/2014/main" id="{ED748CC9-AE6A-1ED7-D5C4-B449BB91723E}"/>
              </a:ext>
            </a:extLst>
          </p:cNvPr>
          <p:cNvSpPr>
            <a:spLocks noGrp="1"/>
          </p:cNvSpPr>
          <p:nvPr>
            <p:ph idx="1"/>
          </p:nvPr>
        </p:nvSpPr>
        <p:spPr>
          <a:xfrm>
            <a:off x="1371600" y="1641231"/>
            <a:ext cx="9601200" cy="4994031"/>
          </a:xfrm>
        </p:spPr>
        <p:txBody>
          <a:bodyPr>
            <a:normAutofit/>
          </a:bodyPr>
          <a:lstStyle/>
          <a:p>
            <a:r>
              <a:rPr lang="en-US" dirty="0"/>
              <a:t>Create </a:t>
            </a:r>
            <a:r>
              <a:rPr lang="en-US" dirty="0" err="1"/>
              <a:t>TruePrinciples</a:t>
            </a:r>
            <a:r>
              <a:rPr lang="en-US" dirty="0"/>
              <a:t> website</a:t>
            </a:r>
          </a:p>
          <a:p>
            <a:r>
              <a:rPr lang="en-US" dirty="0"/>
              <a:t>Decide what role Same Thing Only Different should play</a:t>
            </a:r>
          </a:p>
          <a:p>
            <a:r>
              <a:rPr lang="en-US" dirty="0"/>
              <a:t>Determine which links and keywords should point to the site</a:t>
            </a:r>
          </a:p>
          <a:p>
            <a:r>
              <a:rPr lang="en-US" dirty="0"/>
              <a:t>Find a background theme that conveys TPC. Consider out of the box thinkers or examples of TPE </a:t>
            </a:r>
          </a:p>
          <a:p>
            <a:r>
              <a:rPr lang="en-US" dirty="0"/>
              <a:t>Provide a mechanism for others to propose new principles</a:t>
            </a:r>
          </a:p>
          <a:p>
            <a:r>
              <a:rPr lang="en-US" dirty="0"/>
              <a:t>Define a flexible subscription mechanism for multiple pricing tiers</a:t>
            </a:r>
          </a:p>
          <a:p>
            <a:r>
              <a:rPr lang="en-US" dirty="0"/>
              <a:t>Explore Portuguese, Spanish, German, Russian, and French versions</a:t>
            </a:r>
          </a:p>
          <a:p>
            <a:r>
              <a:rPr lang="en-US" dirty="0"/>
              <a:t>GDK has final vote on all principles</a:t>
            </a:r>
          </a:p>
          <a:p>
            <a:r>
              <a:rPr lang="en-US" dirty="0"/>
              <a:t>Investigate options for preventing download or cut and paste</a:t>
            </a:r>
          </a:p>
          <a:p>
            <a:r>
              <a:rPr lang="en-US" dirty="0"/>
              <a:t>Find a mechanism for me to assign principles to a mod and then a follow-up after a few days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495235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1E475-DF1C-7AFC-0B21-67E45D3E6ED2}"/>
              </a:ext>
            </a:extLst>
          </p:cNvPr>
          <p:cNvSpPr>
            <a:spLocks noGrp="1"/>
          </p:cNvSpPr>
          <p:nvPr>
            <p:ph type="title"/>
          </p:nvPr>
        </p:nvSpPr>
        <p:spPr/>
        <p:txBody>
          <a:bodyPr/>
          <a:lstStyle/>
          <a:p>
            <a:r>
              <a:rPr lang="en-US" dirty="0"/>
              <a:t>To do before Launch</a:t>
            </a:r>
          </a:p>
        </p:txBody>
      </p:sp>
      <p:sp>
        <p:nvSpPr>
          <p:cNvPr id="3" name="Content Placeholder 2">
            <a:extLst>
              <a:ext uri="{FF2B5EF4-FFF2-40B4-BE49-F238E27FC236}">
                <a16:creationId xmlns:a16="http://schemas.microsoft.com/office/drawing/2014/main" id="{D887DBB8-1924-9615-8856-BEEFA55EADA0}"/>
              </a:ext>
            </a:extLst>
          </p:cNvPr>
          <p:cNvSpPr>
            <a:spLocks noGrp="1"/>
          </p:cNvSpPr>
          <p:nvPr>
            <p:ph idx="1"/>
          </p:nvPr>
        </p:nvSpPr>
        <p:spPr/>
        <p:txBody>
          <a:bodyPr/>
          <a:lstStyle/>
          <a:p>
            <a:r>
              <a:rPr lang="en-US" dirty="0"/>
              <a:t>Need a good filter that facilitates curation, discussion, and certifying without getting out of hand. </a:t>
            </a:r>
          </a:p>
          <a:p>
            <a:r>
              <a:rPr lang="en-US" dirty="0"/>
              <a:t>Email, domain names, pointing to the same site. </a:t>
            </a:r>
          </a:p>
          <a:p>
            <a:r>
              <a:rPr lang="en-US" dirty="0"/>
              <a:t>Decide how to name STOD, </a:t>
            </a:r>
            <a:r>
              <a:rPr lang="en-US" dirty="0" err="1"/>
              <a:t>url</a:t>
            </a:r>
            <a:r>
              <a:rPr lang="en-US" dirty="0"/>
              <a:t>, etc.</a:t>
            </a:r>
          </a:p>
          <a:p>
            <a:r>
              <a:rPr lang="en-US" dirty="0"/>
              <a:t>Get the right software and hardware for audio and video recording</a:t>
            </a:r>
          </a:p>
          <a:p>
            <a:endParaRPr lang="en-US" dirty="0"/>
          </a:p>
        </p:txBody>
      </p:sp>
    </p:spTree>
    <p:extLst>
      <p:ext uri="{BB962C8B-B14F-4D97-AF65-F5344CB8AC3E}">
        <p14:creationId xmlns:p14="http://schemas.microsoft.com/office/powerpoint/2010/main" val="2818997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BCB0C-7C4C-B58C-C2E0-AA9C3B729D1E}"/>
              </a:ext>
            </a:extLst>
          </p:cNvPr>
          <p:cNvSpPr>
            <a:spLocks noGrp="1"/>
          </p:cNvSpPr>
          <p:nvPr>
            <p:ph type="title"/>
          </p:nvPr>
        </p:nvSpPr>
        <p:spPr/>
        <p:txBody>
          <a:bodyPr/>
          <a:lstStyle/>
          <a:p>
            <a:r>
              <a:rPr lang="en-US" dirty="0"/>
              <a:t>Lowest Fruit to Solicit</a:t>
            </a:r>
          </a:p>
        </p:txBody>
      </p:sp>
      <p:sp>
        <p:nvSpPr>
          <p:cNvPr id="3" name="Content Placeholder 2">
            <a:extLst>
              <a:ext uri="{FF2B5EF4-FFF2-40B4-BE49-F238E27FC236}">
                <a16:creationId xmlns:a16="http://schemas.microsoft.com/office/drawing/2014/main" id="{9B45D1C8-6BE9-EBDF-D756-F90868F44CEF}"/>
              </a:ext>
            </a:extLst>
          </p:cNvPr>
          <p:cNvSpPr>
            <a:spLocks noGrp="1"/>
          </p:cNvSpPr>
          <p:nvPr>
            <p:ph idx="1"/>
          </p:nvPr>
        </p:nvSpPr>
        <p:spPr/>
        <p:txBody>
          <a:bodyPr/>
          <a:lstStyle/>
          <a:p>
            <a:r>
              <a:rPr lang="en-US" dirty="0"/>
              <a:t>Brazilian missionaries use </a:t>
            </a:r>
            <a:r>
              <a:rPr lang="en-US" dirty="0" err="1"/>
              <a:t>metodo</a:t>
            </a:r>
            <a:r>
              <a:rPr lang="en-US" dirty="0"/>
              <a:t> nuclear</a:t>
            </a:r>
          </a:p>
          <a:p>
            <a:r>
              <a:rPr lang="en-US" dirty="0"/>
              <a:t>American missionaries use </a:t>
            </a:r>
            <a:r>
              <a:rPr lang="en-US" dirty="0" err="1"/>
              <a:t>metodo</a:t>
            </a:r>
            <a:r>
              <a:rPr lang="en-US" dirty="0"/>
              <a:t> nuclear</a:t>
            </a:r>
          </a:p>
          <a:p>
            <a:r>
              <a:rPr lang="en-US" dirty="0"/>
              <a:t>My </a:t>
            </a:r>
            <a:r>
              <a:rPr lang="en-US" dirty="0" err="1"/>
              <a:t>Linkedin</a:t>
            </a:r>
            <a:r>
              <a:rPr lang="en-US" dirty="0"/>
              <a:t> and the mods</a:t>
            </a:r>
          </a:p>
          <a:p>
            <a:r>
              <a:rPr lang="en-US" dirty="0" err="1"/>
              <a:t>TenFold</a:t>
            </a:r>
            <a:r>
              <a:rPr lang="en-US" dirty="0"/>
              <a:t> Alums</a:t>
            </a:r>
          </a:p>
          <a:p>
            <a:r>
              <a:rPr lang="en-US" dirty="0"/>
              <a:t>Oracle Alums</a:t>
            </a:r>
          </a:p>
          <a:p>
            <a:r>
              <a:rPr lang="en-US" dirty="0"/>
              <a:t>My children's contacts</a:t>
            </a:r>
          </a:p>
          <a:p>
            <a:r>
              <a:rPr lang="en-US" dirty="0"/>
              <a:t>Liz, Mikelle, Ju, and Jud’s social media contacts</a:t>
            </a:r>
          </a:p>
          <a:p>
            <a:r>
              <a:rPr lang="en-US" dirty="0"/>
              <a:t>Get Carlos to promote this</a:t>
            </a:r>
          </a:p>
        </p:txBody>
      </p:sp>
    </p:spTree>
    <p:extLst>
      <p:ext uri="{BB962C8B-B14F-4D97-AF65-F5344CB8AC3E}">
        <p14:creationId xmlns:p14="http://schemas.microsoft.com/office/powerpoint/2010/main" val="1171940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406F0-CA08-E4EE-6126-3AD6755E0A02}"/>
              </a:ext>
            </a:extLst>
          </p:cNvPr>
          <p:cNvSpPr>
            <a:spLocks noGrp="1"/>
          </p:cNvSpPr>
          <p:nvPr>
            <p:ph type="title"/>
          </p:nvPr>
        </p:nvSpPr>
        <p:spPr/>
        <p:txBody>
          <a:bodyPr/>
          <a:lstStyle/>
          <a:p>
            <a:r>
              <a:rPr lang="en-US" dirty="0"/>
              <a:t>Lowest Hanging Fruit to Prospect</a:t>
            </a:r>
          </a:p>
        </p:txBody>
      </p:sp>
      <p:sp>
        <p:nvSpPr>
          <p:cNvPr id="3" name="Content Placeholder 2">
            <a:extLst>
              <a:ext uri="{FF2B5EF4-FFF2-40B4-BE49-F238E27FC236}">
                <a16:creationId xmlns:a16="http://schemas.microsoft.com/office/drawing/2014/main" id="{FBEFD194-CB71-4721-73FF-297A6843F136}"/>
              </a:ext>
            </a:extLst>
          </p:cNvPr>
          <p:cNvSpPr>
            <a:spLocks noGrp="1"/>
          </p:cNvSpPr>
          <p:nvPr>
            <p:ph idx="1"/>
          </p:nvPr>
        </p:nvSpPr>
        <p:spPr/>
        <p:txBody>
          <a:bodyPr/>
          <a:lstStyle/>
          <a:p>
            <a:r>
              <a:rPr lang="en-US" dirty="0"/>
              <a:t>Leadership Circle Mailing list (reciprocate by allowing them to run ads on STOD)</a:t>
            </a:r>
          </a:p>
        </p:txBody>
      </p:sp>
    </p:spTree>
    <p:extLst>
      <p:ext uri="{BB962C8B-B14F-4D97-AF65-F5344CB8AC3E}">
        <p14:creationId xmlns:p14="http://schemas.microsoft.com/office/powerpoint/2010/main" val="540339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4C732-15EC-D096-F068-94A9A57DC602}"/>
              </a:ext>
            </a:extLst>
          </p:cNvPr>
          <p:cNvSpPr>
            <a:spLocks noGrp="1"/>
          </p:cNvSpPr>
          <p:nvPr>
            <p:ph type="title"/>
          </p:nvPr>
        </p:nvSpPr>
        <p:spPr/>
        <p:txBody>
          <a:bodyPr/>
          <a:lstStyle/>
          <a:p>
            <a:r>
              <a:rPr lang="en-US" dirty="0"/>
              <a:t>Minimum Requirements for a Principle to Be Considered as True</a:t>
            </a:r>
          </a:p>
        </p:txBody>
      </p:sp>
      <p:sp>
        <p:nvSpPr>
          <p:cNvPr id="3" name="Content Placeholder 2">
            <a:extLst>
              <a:ext uri="{FF2B5EF4-FFF2-40B4-BE49-F238E27FC236}">
                <a16:creationId xmlns:a16="http://schemas.microsoft.com/office/drawing/2014/main" id="{377FE8B2-CBA5-F7F0-CB5E-5D95DE4C44F7}"/>
              </a:ext>
            </a:extLst>
          </p:cNvPr>
          <p:cNvSpPr>
            <a:spLocks noGrp="1"/>
          </p:cNvSpPr>
          <p:nvPr>
            <p:ph idx="1"/>
          </p:nvPr>
        </p:nvSpPr>
        <p:spPr/>
        <p:txBody>
          <a:bodyPr>
            <a:normAutofit fontScale="85000" lnSpcReduction="20000"/>
          </a:bodyPr>
          <a:lstStyle/>
          <a:p>
            <a:r>
              <a:rPr lang="en-US" dirty="0"/>
              <a:t>Principle must demonstrably operate across multiple domains</a:t>
            </a:r>
          </a:p>
          <a:p>
            <a:r>
              <a:rPr lang="en-US" dirty="0"/>
              <a:t>Author (owner) must be willing to record a video discussing the principle that has a Q&amp;A session (a mod present). If principle is accepted, then they need to moderate a Real Time discussion. </a:t>
            </a:r>
          </a:p>
          <a:p>
            <a:r>
              <a:rPr lang="en-US" dirty="0"/>
              <a:t>Must clearly define:</a:t>
            </a:r>
          </a:p>
          <a:p>
            <a:pPr lvl="1"/>
            <a:r>
              <a:rPr lang="en-US" dirty="0"/>
              <a:t>Compelling title</a:t>
            </a:r>
          </a:p>
          <a:p>
            <a:pPr lvl="1"/>
            <a:r>
              <a:rPr lang="en-US" dirty="0"/>
              <a:t>Short description</a:t>
            </a:r>
          </a:p>
          <a:p>
            <a:pPr lvl="1"/>
            <a:r>
              <a:rPr lang="en-US" dirty="0"/>
              <a:t>Body of the principle using examples but not </a:t>
            </a:r>
            <a:r>
              <a:rPr lang="en-US" dirty="0" err="1"/>
              <a:t>ChatGPT</a:t>
            </a:r>
            <a:endParaRPr lang="en-US" dirty="0"/>
          </a:p>
          <a:p>
            <a:pPr lvl="1"/>
            <a:r>
              <a:rPr lang="en-US" dirty="0"/>
              <a:t>STOD description?</a:t>
            </a:r>
          </a:p>
          <a:p>
            <a:pPr lvl="1"/>
            <a:r>
              <a:rPr lang="en-US" dirty="0"/>
              <a:t>Take Home Value</a:t>
            </a:r>
          </a:p>
          <a:p>
            <a:pPr lvl="1"/>
            <a:r>
              <a:rPr lang="en-US" dirty="0"/>
              <a:t>Hard Question</a:t>
            </a:r>
          </a:p>
          <a:p>
            <a:r>
              <a:rPr lang="en-US" dirty="0"/>
              <a:t>Must clearly articulate the Duh and the Ahaa</a:t>
            </a:r>
          </a:p>
          <a:p>
            <a:r>
              <a:rPr lang="en-US" dirty="0"/>
              <a:t>Always asks and answers the “So What” question</a:t>
            </a:r>
          </a:p>
          <a:p>
            <a:endParaRPr lang="en-US" dirty="0"/>
          </a:p>
        </p:txBody>
      </p:sp>
    </p:spTree>
    <p:extLst>
      <p:ext uri="{BB962C8B-B14F-4D97-AF65-F5344CB8AC3E}">
        <p14:creationId xmlns:p14="http://schemas.microsoft.com/office/powerpoint/2010/main" val="25954205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0EC8A-FFA5-E769-7677-555BCF10DA1C}"/>
              </a:ext>
            </a:extLst>
          </p:cNvPr>
          <p:cNvSpPr>
            <a:spLocks noGrp="1"/>
          </p:cNvSpPr>
          <p:nvPr>
            <p:ph type="title"/>
          </p:nvPr>
        </p:nvSpPr>
        <p:spPr>
          <a:xfrm>
            <a:off x="1371600" y="685800"/>
            <a:ext cx="9601200" cy="1485900"/>
          </a:xfrm>
        </p:spPr>
        <p:txBody>
          <a:bodyPr>
            <a:normAutofit/>
          </a:bodyPr>
          <a:lstStyle/>
          <a:p>
            <a:r>
              <a:rPr lang="en-US" dirty="0"/>
              <a:t>Steps to Submit and Curate a Principle</a:t>
            </a:r>
          </a:p>
        </p:txBody>
      </p:sp>
      <p:graphicFrame>
        <p:nvGraphicFramePr>
          <p:cNvPr id="6" name="Content Placeholder 2">
            <a:extLst>
              <a:ext uri="{FF2B5EF4-FFF2-40B4-BE49-F238E27FC236}">
                <a16:creationId xmlns:a16="http://schemas.microsoft.com/office/drawing/2014/main" id="{0C11A515-7CCD-C13C-EEB7-B36ED6F9A24F}"/>
              </a:ext>
            </a:extLst>
          </p:cNvPr>
          <p:cNvGraphicFramePr>
            <a:graphicFrameLocks noGrp="1"/>
          </p:cNvGraphicFramePr>
          <p:nvPr>
            <p:ph idx="1"/>
            <p:extLst>
              <p:ext uri="{D42A27DB-BD31-4B8C-83A1-F6EECF244321}">
                <p14:modId xmlns:p14="http://schemas.microsoft.com/office/powerpoint/2010/main" val="1485195631"/>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7874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8ED76-D318-B36A-0EDC-779D052FBD76}"/>
              </a:ext>
            </a:extLst>
          </p:cNvPr>
          <p:cNvSpPr>
            <a:spLocks noGrp="1"/>
          </p:cNvSpPr>
          <p:nvPr>
            <p:ph type="title"/>
          </p:nvPr>
        </p:nvSpPr>
        <p:spPr/>
        <p:txBody>
          <a:bodyPr/>
          <a:lstStyle/>
          <a:p>
            <a:r>
              <a:rPr lang="en-US" dirty="0"/>
              <a:t>Moderators (Curators)</a:t>
            </a:r>
          </a:p>
        </p:txBody>
      </p:sp>
      <p:sp>
        <p:nvSpPr>
          <p:cNvPr id="3" name="Content Placeholder 2">
            <a:extLst>
              <a:ext uri="{FF2B5EF4-FFF2-40B4-BE49-F238E27FC236}">
                <a16:creationId xmlns:a16="http://schemas.microsoft.com/office/drawing/2014/main" id="{D341EF7C-63AE-0B2C-88EE-1309C02EAA4C}"/>
              </a:ext>
            </a:extLst>
          </p:cNvPr>
          <p:cNvSpPr>
            <a:spLocks noGrp="1"/>
          </p:cNvSpPr>
          <p:nvPr>
            <p:ph idx="1"/>
          </p:nvPr>
        </p:nvSpPr>
        <p:spPr>
          <a:xfrm>
            <a:off x="1371600" y="2286000"/>
            <a:ext cx="9601200" cy="4114800"/>
          </a:xfrm>
        </p:spPr>
        <p:txBody>
          <a:bodyPr>
            <a:normAutofit/>
          </a:bodyPr>
          <a:lstStyle/>
          <a:p>
            <a:r>
              <a:rPr lang="en-US" dirty="0"/>
              <a:t>I will consider their time demands before I assign principles. Please let me know if the requirements are too great</a:t>
            </a:r>
          </a:p>
          <a:p>
            <a:r>
              <a:rPr lang="en-US" dirty="0"/>
              <a:t>Mods will have access to everything</a:t>
            </a:r>
          </a:p>
          <a:p>
            <a:r>
              <a:rPr lang="en-US" dirty="0"/>
              <a:t>I will train mods on the first 2-3 principles that they curate</a:t>
            </a:r>
          </a:p>
          <a:p>
            <a:r>
              <a:rPr lang="en-US" dirty="0"/>
              <a:t>When presented with a principle Mods can:</a:t>
            </a:r>
          </a:p>
          <a:p>
            <a:pPr lvl="1"/>
            <a:r>
              <a:rPr lang="en-US" dirty="0"/>
              <a:t>Accept with minor edits</a:t>
            </a:r>
          </a:p>
          <a:p>
            <a:pPr lvl="1"/>
            <a:r>
              <a:rPr lang="en-US" dirty="0"/>
              <a:t>Reject as not applicable</a:t>
            </a:r>
          </a:p>
          <a:p>
            <a:pPr lvl="1"/>
            <a:r>
              <a:rPr lang="en-US" dirty="0"/>
              <a:t>Engage with the author to make major edits as the principle warrants</a:t>
            </a:r>
          </a:p>
          <a:p>
            <a:pPr lvl="1"/>
            <a:r>
              <a:rPr lang="en-US" dirty="0"/>
              <a:t>Pass back to me with a brief description of their thoughts and a recommendation as to whom the principle should be addressed</a:t>
            </a:r>
          </a:p>
          <a:p>
            <a:endParaRPr lang="en-US" dirty="0"/>
          </a:p>
        </p:txBody>
      </p:sp>
    </p:spTree>
    <p:extLst>
      <p:ext uri="{BB962C8B-B14F-4D97-AF65-F5344CB8AC3E}">
        <p14:creationId xmlns:p14="http://schemas.microsoft.com/office/powerpoint/2010/main" val="870300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B31DC-D9FE-F9D9-5F18-1F7C2CD283F9}"/>
              </a:ext>
            </a:extLst>
          </p:cNvPr>
          <p:cNvSpPr>
            <a:spLocks noGrp="1"/>
          </p:cNvSpPr>
          <p:nvPr>
            <p:ph type="title"/>
          </p:nvPr>
        </p:nvSpPr>
        <p:spPr/>
        <p:txBody>
          <a:bodyPr/>
          <a:lstStyle/>
          <a:p>
            <a:r>
              <a:rPr lang="en-US" dirty="0"/>
              <a:t>Possible Moderators</a:t>
            </a:r>
          </a:p>
        </p:txBody>
      </p:sp>
      <p:sp>
        <p:nvSpPr>
          <p:cNvPr id="4" name="Content Placeholder 3">
            <a:extLst>
              <a:ext uri="{FF2B5EF4-FFF2-40B4-BE49-F238E27FC236}">
                <a16:creationId xmlns:a16="http://schemas.microsoft.com/office/drawing/2014/main" id="{F48DF7EF-FEF7-68EE-9D58-5C7CD03F3B46}"/>
              </a:ext>
            </a:extLst>
          </p:cNvPr>
          <p:cNvSpPr>
            <a:spLocks noGrp="1"/>
          </p:cNvSpPr>
          <p:nvPr>
            <p:ph sz="half" idx="1"/>
          </p:nvPr>
        </p:nvSpPr>
        <p:spPr/>
        <p:txBody>
          <a:bodyPr>
            <a:normAutofit fontScale="55000" lnSpcReduction="20000"/>
          </a:bodyPr>
          <a:lstStyle/>
          <a:p>
            <a:r>
              <a:rPr lang="en-US" dirty="0"/>
              <a:t>Nicky Taylor</a:t>
            </a:r>
          </a:p>
          <a:p>
            <a:r>
              <a:rPr lang="en-US" dirty="0"/>
              <a:t>Jud Kennedy</a:t>
            </a:r>
          </a:p>
          <a:p>
            <a:r>
              <a:rPr lang="en-US" dirty="0"/>
              <a:t>Joe Kennedy</a:t>
            </a:r>
          </a:p>
          <a:p>
            <a:r>
              <a:rPr lang="en-US" dirty="0"/>
              <a:t>Liz Kennedy</a:t>
            </a:r>
          </a:p>
          <a:p>
            <a:r>
              <a:rPr lang="en-US" dirty="0"/>
              <a:t>Anne Kennedy</a:t>
            </a:r>
          </a:p>
          <a:p>
            <a:r>
              <a:rPr lang="en-US" dirty="0"/>
              <a:t>Don Holm</a:t>
            </a:r>
          </a:p>
          <a:p>
            <a:r>
              <a:rPr lang="en-US" dirty="0"/>
              <a:t>Don Russell</a:t>
            </a:r>
          </a:p>
          <a:p>
            <a:r>
              <a:rPr lang="en-US" dirty="0"/>
              <a:t>Rod Badger</a:t>
            </a:r>
          </a:p>
          <a:p>
            <a:r>
              <a:rPr lang="en-US" dirty="0"/>
              <a:t>Gary Laney</a:t>
            </a:r>
          </a:p>
          <a:p>
            <a:r>
              <a:rPr lang="en-US" dirty="0"/>
              <a:t>David Walters</a:t>
            </a:r>
          </a:p>
          <a:p>
            <a:r>
              <a:rPr lang="en-US" dirty="0"/>
              <a:t>Wallace Nunes</a:t>
            </a:r>
          </a:p>
          <a:p>
            <a:r>
              <a:rPr lang="en-US"/>
              <a:t>Rick Bennett</a:t>
            </a:r>
            <a:endParaRPr lang="en-US" dirty="0"/>
          </a:p>
        </p:txBody>
      </p:sp>
      <p:sp>
        <p:nvSpPr>
          <p:cNvPr id="5" name="Content Placeholder 4">
            <a:extLst>
              <a:ext uri="{FF2B5EF4-FFF2-40B4-BE49-F238E27FC236}">
                <a16:creationId xmlns:a16="http://schemas.microsoft.com/office/drawing/2014/main" id="{BE582B27-2216-2300-3760-F7352EC67A85}"/>
              </a:ext>
            </a:extLst>
          </p:cNvPr>
          <p:cNvSpPr>
            <a:spLocks noGrp="1"/>
          </p:cNvSpPr>
          <p:nvPr>
            <p:ph sz="half" idx="2"/>
          </p:nvPr>
        </p:nvSpPr>
        <p:spPr/>
        <p:txBody>
          <a:bodyPr>
            <a:normAutofit fontScale="55000" lnSpcReduction="20000"/>
          </a:bodyPr>
          <a:lstStyle/>
          <a:p>
            <a:r>
              <a:rPr lang="en-US" dirty="0"/>
              <a:t>Jane Kennedy</a:t>
            </a:r>
          </a:p>
          <a:p>
            <a:r>
              <a:rPr lang="en-US" dirty="0"/>
              <a:t>Betsy </a:t>
            </a:r>
            <a:r>
              <a:rPr lang="en-US" dirty="0" err="1"/>
              <a:t>Bennion</a:t>
            </a:r>
            <a:endParaRPr lang="en-US" dirty="0"/>
          </a:p>
          <a:p>
            <a:r>
              <a:rPr lang="en-US" dirty="0"/>
              <a:t>Adam </a:t>
            </a:r>
            <a:r>
              <a:rPr lang="en-US" dirty="0" err="1"/>
              <a:t>Slovik</a:t>
            </a:r>
            <a:endParaRPr lang="en-US" dirty="0"/>
          </a:p>
          <a:p>
            <a:r>
              <a:rPr lang="en-US" dirty="0"/>
              <a:t>Bruce Tow</a:t>
            </a:r>
          </a:p>
          <a:p>
            <a:r>
              <a:rPr lang="en-US" dirty="0"/>
              <a:t>Linda Archibald</a:t>
            </a:r>
          </a:p>
          <a:p>
            <a:r>
              <a:rPr lang="en-US" dirty="0"/>
              <a:t>Lillian Gillie</a:t>
            </a:r>
          </a:p>
          <a:p>
            <a:r>
              <a:rPr lang="en-US" dirty="0"/>
              <a:t>Lance Thorn</a:t>
            </a:r>
          </a:p>
          <a:p>
            <a:r>
              <a:rPr lang="en-US" dirty="0"/>
              <a:t>Charley Haws</a:t>
            </a:r>
          </a:p>
          <a:p>
            <a:r>
              <a:rPr lang="en-US" dirty="0"/>
              <a:t>Annette Haws</a:t>
            </a:r>
          </a:p>
          <a:p>
            <a:r>
              <a:rPr lang="en-US" dirty="0"/>
              <a:t>Paulo </a:t>
            </a:r>
            <a:r>
              <a:rPr lang="en-US" dirty="0" err="1"/>
              <a:t>Zanardi</a:t>
            </a:r>
            <a:endParaRPr lang="en-US" dirty="0"/>
          </a:p>
          <a:p>
            <a:r>
              <a:rPr lang="en-US" dirty="0"/>
              <a:t>Alexandre Fernandes</a:t>
            </a:r>
          </a:p>
          <a:p>
            <a:r>
              <a:rPr lang="en-US" dirty="0"/>
              <a:t>Catheryn  Ward</a:t>
            </a:r>
          </a:p>
          <a:p>
            <a:r>
              <a:rPr lang="en-US" dirty="0"/>
              <a:t>David Ward</a:t>
            </a:r>
          </a:p>
        </p:txBody>
      </p:sp>
    </p:spTree>
    <p:extLst>
      <p:ext uri="{BB962C8B-B14F-4D97-AF65-F5344CB8AC3E}">
        <p14:creationId xmlns:p14="http://schemas.microsoft.com/office/powerpoint/2010/main" val="3740176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B9E52-23EC-4EE7-F893-9C243F0F1CAF}"/>
              </a:ext>
            </a:extLst>
          </p:cNvPr>
          <p:cNvSpPr>
            <a:spLocks noGrp="1"/>
          </p:cNvSpPr>
          <p:nvPr>
            <p:ph type="title"/>
          </p:nvPr>
        </p:nvSpPr>
        <p:spPr>
          <a:xfrm>
            <a:off x="1371600" y="685800"/>
            <a:ext cx="3282695" cy="1485900"/>
          </a:xfrm>
        </p:spPr>
        <p:txBody>
          <a:bodyPr>
            <a:normAutofit/>
          </a:bodyPr>
          <a:lstStyle/>
          <a:p>
            <a:r>
              <a:rPr lang="en-US" dirty="0"/>
              <a:t>STOD</a:t>
            </a:r>
          </a:p>
        </p:txBody>
      </p:sp>
      <p:sp>
        <p:nvSpPr>
          <p:cNvPr id="3" name="Content Placeholder 2">
            <a:extLst>
              <a:ext uri="{FF2B5EF4-FFF2-40B4-BE49-F238E27FC236}">
                <a16:creationId xmlns:a16="http://schemas.microsoft.com/office/drawing/2014/main" id="{C3523856-5860-C493-F56E-FB73B5C11F32}"/>
              </a:ext>
            </a:extLst>
          </p:cNvPr>
          <p:cNvSpPr>
            <a:spLocks noGrp="1"/>
          </p:cNvSpPr>
          <p:nvPr>
            <p:ph idx="1"/>
          </p:nvPr>
        </p:nvSpPr>
        <p:spPr>
          <a:xfrm>
            <a:off x="1371600" y="2286000"/>
            <a:ext cx="3282694" cy="3581400"/>
          </a:xfrm>
        </p:spPr>
        <p:txBody>
          <a:bodyPr>
            <a:normAutofit/>
          </a:bodyPr>
          <a:lstStyle/>
          <a:p>
            <a:endParaRPr lang="en-US" b="0" i="0" u="none" strike="noStrike">
              <a:effectLst/>
              <a:latin typeface="-webkit-standard"/>
            </a:endParaRPr>
          </a:p>
          <a:p>
            <a:endParaRPr lang="en-US" dirty="0"/>
          </a:p>
        </p:txBody>
      </p:sp>
      <p:pic>
        <p:nvPicPr>
          <p:cNvPr id="4" name="Picture 3">
            <a:extLst>
              <a:ext uri="{FF2B5EF4-FFF2-40B4-BE49-F238E27FC236}">
                <a16:creationId xmlns:a16="http://schemas.microsoft.com/office/drawing/2014/main" id="{68A0163D-C538-10BD-E3D1-29DB7231EA7E}"/>
              </a:ext>
            </a:extLst>
          </p:cNvPr>
          <p:cNvPicPr>
            <a:picLocks noChangeAspect="1"/>
          </p:cNvPicPr>
          <p:nvPr/>
        </p:nvPicPr>
        <p:blipFill>
          <a:blip r:embed="rId2"/>
          <a:stretch>
            <a:fillRect/>
          </a:stretch>
        </p:blipFill>
        <p:spPr>
          <a:xfrm>
            <a:off x="5692365" y="645106"/>
            <a:ext cx="5195268" cy="5247747"/>
          </a:xfrm>
          <a:prstGeom prst="rect">
            <a:avLst/>
          </a:prstGeom>
        </p:spPr>
      </p:pic>
    </p:spTree>
    <p:extLst>
      <p:ext uri="{BB962C8B-B14F-4D97-AF65-F5344CB8AC3E}">
        <p14:creationId xmlns:p14="http://schemas.microsoft.com/office/powerpoint/2010/main" val="4135786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09897-82F4-FB03-A934-F7EF67D4202C}"/>
              </a:ext>
            </a:extLst>
          </p:cNvPr>
          <p:cNvSpPr>
            <a:spLocks noGrp="1"/>
          </p:cNvSpPr>
          <p:nvPr>
            <p:ph type="title"/>
          </p:nvPr>
        </p:nvSpPr>
        <p:spPr/>
        <p:txBody>
          <a:bodyPr/>
          <a:lstStyle/>
          <a:p>
            <a:r>
              <a:rPr lang="en-US" dirty="0"/>
              <a:t>Ideas for Theme</a:t>
            </a:r>
          </a:p>
        </p:txBody>
      </p:sp>
      <p:sp>
        <p:nvSpPr>
          <p:cNvPr id="3" name="Content Placeholder 2">
            <a:extLst>
              <a:ext uri="{FF2B5EF4-FFF2-40B4-BE49-F238E27FC236}">
                <a16:creationId xmlns:a16="http://schemas.microsoft.com/office/drawing/2014/main" id="{71A066A1-AEA7-6D94-26A1-BA598DF3A63D}"/>
              </a:ext>
            </a:extLst>
          </p:cNvPr>
          <p:cNvSpPr>
            <a:spLocks noGrp="1"/>
          </p:cNvSpPr>
          <p:nvPr>
            <p:ph idx="1"/>
          </p:nvPr>
        </p:nvSpPr>
        <p:spPr/>
        <p:txBody>
          <a:bodyPr/>
          <a:lstStyle/>
          <a:p>
            <a:r>
              <a:rPr lang="en-US" dirty="0"/>
              <a:t>Picture of two pickleballs with one colored that has markedly bigger holes for inside play. Maybe have two different colors as well</a:t>
            </a:r>
          </a:p>
        </p:txBody>
      </p:sp>
    </p:spTree>
    <p:extLst>
      <p:ext uri="{BB962C8B-B14F-4D97-AF65-F5344CB8AC3E}">
        <p14:creationId xmlns:p14="http://schemas.microsoft.com/office/powerpoint/2010/main" val="783073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6692-4E50-FB9A-54A1-29C0C1D24917}"/>
              </a:ext>
            </a:extLst>
          </p:cNvPr>
          <p:cNvSpPr>
            <a:spLocks noGrp="1"/>
          </p:cNvSpPr>
          <p:nvPr>
            <p:ph type="title"/>
          </p:nvPr>
        </p:nvSpPr>
        <p:spPr/>
        <p:txBody>
          <a:bodyPr/>
          <a:lstStyle/>
          <a:p>
            <a:r>
              <a:rPr lang="en-US" dirty="0"/>
              <a:t>Why Am I Uniquely Qualified to Do This?</a:t>
            </a:r>
          </a:p>
        </p:txBody>
      </p:sp>
      <p:sp>
        <p:nvSpPr>
          <p:cNvPr id="3" name="Content Placeholder 2">
            <a:extLst>
              <a:ext uri="{FF2B5EF4-FFF2-40B4-BE49-F238E27FC236}">
                <a16:creationId xmlns:a16="http://schemas.microsoft.com/office/drawing/2014/main" id="{602DD537-E827-7B0A-9539-6F743DEC1EC0}"/>
              </a:ext>
            </a:extLst>
          </p:cNvPr>
          <p:cNvSpPr>
            <a:spLocks noGrp="1"/>
          </p:cNvSpPr>
          <p:nvPr>
            <p:ph idx="1"/>
          </p:nvPr>
        </p:nvSpPr>
        <p:spPr>
          <a:xfrm>
            <a:off x="1371600" y="1453662"/>
            <a:ext cx="9601200" cy="5404338"/>
          </a:xfrm>
        </p:spPr>
        <p:txBody>
          <a:bodyPr>
            <a:normAutofit fontScale="70000" lnSpcReduction="20000"/>
          </a:bodyPr>
          <a:lstStyle/>
          <a:p>
            <a:r>
              <a:rPr lang="en-US" dirty="0"/>
              <a:t>I am not—Most of you could do something just as good or better IF:</a:t>
            </a:r>
          </a:p>
          <a:p>
            <a:pPr lvl="1"/>
            <a:r>
              <a:rPr lang="en-US" dirty="0"/>
              <a:t>You become adept at recognizing patterns. This requires </a:t>
            </a:r>
          </a:p>
          <a:p>
            <a:pPr lvl="2"/>
            <a:r>
              <a:rPr lang="en-US" dirty="0"/>
              <a:t>Must be curious</a:t>
            </a:r>
          </a:p>
          <a:p>
            <a:pPr lvl="2"/>
            <a:r>
              <a:rPr lang="en-US" dirty="0"/>
              <a:t>Some level of intelligence</a:t>
            </a:r>
          </a:p>
          <a:p>
            <a:pPr lvl="2"/>
            <a:r>
              <a:rPr lang="en-US" dirty="0"/>
              <a:t>Lots of practice</a:t>
            </a:r>
          </a:p>
          <a:p>
            <a:pPr lvl="2"/>
            <a:r>
              <a:rPr lang="en-US" dirty="0"/>
              <a:t>Principle centric googles</a:t>
            </a:r>
          </a:p>
          <a:p>
            <a:pPr lvl="1"/>
            <a:r>
              <a:rPr lang="en-US" dirty="0"/>
              <a:t>Need to be willing to take the time to ponder, curate, and write—big time commitment</a:t>
            </a:r>
          </a:p>
          <a:p>
            <a:r>
              <a:rPr lang="en-US" dirty="0"/>
              <a:t>Helps if you spend many years doing it</a:t>
            </a:r>
          </a:p>
          <a:p>
            <a:r>
              <a:rPr lang="en-US" dirty="0"/>
              <a:t>Helps if you have been involved in one or even more rapid growth situations</a:t>
            </a:r>
          </a:p>
          <a:p>
            <a:pPr lvl="1"/>
            <a:r>
              <a:rPr lang="en-US" dirty="0"/>
              <a:t>Need to make decisions with only part of the information</a:t>
            </a:r>
          </a:p>
          <a:p>
            <a:pPr lvl="1"/>
            <a:r>
              <a:rPr lang="en-US" dirty="0"/>
              <a:t>Search for principles to guide decision making since there is not time to think about each specific situation</a:t>
            </a:r>
          </a:p>
          <a:p>
            <a:r>
              <a:rPr lang="en-US" dirty="0"/>
              <a:t>Experience in a resource constrained environment is also helpful so you may be forced to find creative ways to solve problems rather than throwing money at it</a:t>
            </a:r>
          </a:p>
          <a:p>
            <a:pPr lvl="1"/>
            <a:r>
              <a:rPr lang="en-US" dirty="0"/>
              <a:t>Nonprofit</a:t>
            </a:r>
          </a:p>
          <a:p>
            <a:pPr lvl="1"/>
            <a:r>
              <a:rPr lang="en-US" dirty="0"/>
              <a:t>Very strict budget guidelines</a:t>
            </a:r>
          </a:p>
          <a:p>
            <a:pPr lvl="1"/>
            <a:r>
              <a:rPr lang="en-US" dirty="0"/>
              <a:t>A turn around situation is resource constrained</a:t>
            </a:r>
          </a:p>
          <a:p>
            <a:r>
              <a:rPr lang="en-US" dirty="0"/>
              <a:t>It also helps if you have experience in an environment where the bulk of your labor is provided by volunteers</a:t>
            </a:r>
          </a:p>
          <a:p>
            <a:pPr lvl="1"/>
            <a:r>
              <a:rPr lang="en-US" dirty="0"/>
              <a:t>Can walk away anytime they want</a:t>
            </a:r>
          </a:p>
          <a:p>
            <a:pPr lvl="1"/>
            <a:r>
              <a:rPr lang="en-US" dirty="0"/>
              <a:t>No financial incentive to stay</a:t>
            </a:r>
          </a:p>
          <a:p>
            <a:pPr lvl="1"/>
            <a:r>
              <a:rPr lang="en-US" dirty="0"/>
              <a:t>Volunteers are theoretically the most motivated of all workers</a:t>
            </a:r>
          </a:p>
          <a:p>
            <a:pPr lvl="1"/>
            <a:endParaRPr lang="en-US" dirty="0"/>
          </a:p>
          <a:p>
            <a:pPr lvl="1"/>
            <a:endParaRPr lang="en-US" dirty="0"/>
          </a:p>
        </p:txBody>
      </p:sp>
    </p:spTree>
    <p:extLst>
      <p:ext uri="{BB962C8B-B14F-4D97-AF65-F5344CB8AC3E}">
        <p14:creationId xmlns:p14="http://schemas.microsoft.com/office/powerpoint/2010/main" val="867969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9EEC0-8A53-CECB-31C5-C4632F10567D}"/>
              </a:ext>
            </a:extLst>
          </p:cNvPr>
          <p:cNvSpPr>
            <a:spLocks noGrp="1"/>
          </p:cNvSpPr>
          <p:nvPr>
            <p:ph type="title"/>
          </p:nvPr>
        </p:nvSpPr>
        <p:spPr/>
        <p:txBody>
          <a:bodyPr/>
          <a:lstStyle/>
          <a:p>
            <a:r>
              <a:rPr lang="en-US" dirty="0"/>
              <a:t>Open Questions</a:t>
            </a:r>
          </a:p>
        </p:txBody>
      </p:sp>
      <p:sp>
        <p:nvSpPr>
          <p:cNvPr id="3" name="Content Placeholder 2">
            <a:extLst>
              <a:ext uri="{FF2B5EF4-FFF2-40B4-BE49-F238E27FC236}">
                <a16:creationId xmlns:a16="http://schemas.microsoft.com/office/drawing/2014/main" id="{D8D8BD40-B0A9-6AD3-0C2B-9199E1EE3163}"/>
              </a:ext>
            </a:extLst>
          </p:cNvPr>
          <p:cNvSpPr>
            <a:spLocks noGrp="1"/>
          </p:cNvSpPr>
          <p:nvPr>
            <p:ph idx="1"/>
          </p:nvPr>
        </p:nvSpPr>
        <p:spPr/>
        <p:txBody>
          <a:bodyPr/>
          <a:lstStyle/>
          <a:p>
            <a:r>
              <a:rPr lang="en-US" dirty="0"/>
              <a:t>Is there a role for some type of newsletter here?</a:t>
            </a:r>
          </a:p>
          <a:p>
            <a:r>
              <a:rPr lang="en-US" dirty="0"/>
              <a:t>What is the best mechanism for me and other mods to interact with current events and keep all the content relevant? </a:t>
            </a:r>
          </a:p>
          <a:p>
            <a:pPr lvl="1"/>
            <a:r>
              <a:rPr lang="en-US" dirty="0"/>
              <a:t>Maybe ongoing chat sessions that can be recorded, edited, added to the information on the site</a:t>
            </a:r>
          </a:p>
          <a:p>
            <a:pPr lvl="1"/>
            <a:r>
              <a:rPr lang="en-US" dirty="0"/>
              <a:t>There are lots of mods, each of whom brings some sort of unique perspective</a:t>
            </a:r>
          </a:p>
          <a:p>
            <a:r>
              <a:rPr lang="en-US" dirty="0"/>
              <a:t>How do I get the first people to sign up and begin the viral process? </a:t>
            </a:r>
            <a:r>
              <a:rPr lang="en-US" dirty="0" err="1"/>
              <a:t>Metodo</a:t>
            </a:r>
            <a:r>
              <a:rPr lang="en-US" dirty="0"/>
              <a:t> nuclear with missionaries</a:t>
            </a:r>
          </a:p>
        </p:txBody>
      </p:sp>
    </p:spTree>
    <p:extLst>
      <p:ext uri="{BB962C8B-B14F-4D97-AF65-F5344CB8AC3E}">
        <p14:creationId xmlns:p14="http://schemas.microsoft.com/office/powerpoint/2010/main" val="3576485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4072F-7710-3455-23F8-47A271527184}"/>
              </a:ext>
            </a:extLst>
          </p:cNvPr>
          <p:cNvSpPr>
            <a:spLocks noGrp="1"/>
          </p:cNvSpPr>
          <p:nvPr>
            <p:ph type="title"/>
          </p:nvPr>
        </p:nvSpPr>
        <p:spPr/>
        <p:txBody>
          <a:bodyPr/>
          <a:lstStyle/>
          <a:p>
            <a:r>
              <a:rPr lang="en-US" dirty="0"/>
              <a:t>Private To Be Used as Necessary</a:t>
            </a:r>
          </a:p>
        </p:txBody>
      </p:sp>
      <p:sp>
        <p:nvSpPr>
          <p:cNvPr id="3" name="Content Placeholder 2">
            <a:extLst>
              <a:ext uri="{FF2B5EF4-FFF2-40B4-BE49-F238E27FC236}">
                <a16:creationId xmlns:a16="http://schemas.microsoft.com/office/drawing/2014/main" id="{92C15A63-3C14-EBF7-9E68-479EB4709A8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69960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1955B-9ED5-D647-1ECD-89EEB074D2A5}"/>
              </a:ext>
            </a:extLst>
          </p:cNvPr>
          <p:cNvSpPr>
            <a:spLocks noGrp="1"/>
          </p:cNvSpPr>
          <p:nvPr>
            <p:ph type="title"/>
          </p:nvPr>
        </p:nvSpPr>
        <p:spPr>
          <a:xfrm>
            <a:off x="1371599" y="685800"/>
            <a:ext cx="10254343" cy="1485900"/>
          </a:xfrm>
        </p:spPr>
        <p:txBody>
          <a:bodyPr/>
          <a:lstStyle/>
          <a:p>
            <a:r>
              <a:rPr lang="en-US" dirty="0"/>
              <a:t>New Clothes Needed (after revenues start)</a:t>
            </a:r>
          </a:p>
        </p:txBody>
      </p:sp>
      <p:sp>
        <p:nvSpPr>
          <p:cNvPr id="3" name="Content Placeholder 2">
            <a:extLst>
              <a:ext uri="{FF2B5EF4-FFF2-40B4-BE49-F238E27FC236}">
                <a16:creationId xmlns:a16="http://schemas.microsoft.com/office/drawing/2014/main" id="{E96DD5DC-6B5D-CDBB-01D2-269423FFC5AA}"/>
              </a:ext>
            </a:extLst>
          </p:cNvPr>
          <p:cNvSpPr>
            <a:spLocks noGrp="1"/>
          </p:cNvSpPr>
          <p:nvPr>
            <p:ph idx="1"/>
          </p:nvPr>
        </p:nvSpPr>
        <p:spPr/>
        <p:txBody>
          <a:bodyPr/>
          <a:lstStyle/>
          <a:p>
            <a:r>
              <a:rPr lang="en-US" dirty="0"/>
              <a:t>2 sport coats</a:t>
            </a:r>
          </a:p>
          <a:p>
            <a:r>
              <a:rPr lang="en-US" dirty="0"/>
              <a:t>5 new shirts</a:t>
            </a:r>
          </a:p>
          <a:p>
            <a:r>
              <a:rPr lang="en-US" dirty="0"/>
              <a:t>1 sweater</a:t>
            </a:r>
          </a:p>
          <a:p>
            <a:r>
              <a:rPr lang="en-US" dirty="0"/>
              <a:t>2 pair of pants</a:t>
            </a:r>
          </a:p>
          <a:p>
            <a:endParaRPr lang="en-US" dirty="0"/>
          </a:p>
        </p:txBody>
      </p:sp>
    </p:spTree>
    <p:extLst>
      <p:ext uri="{BB962C8B-B14F-4D97-AF65-F5344CB8AC3E}">
        <p14:creationId xmlns:p14="http://schemas.microsoft.com/office/powerpoint/2010/main" val="1873442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43D80-5A4A-2C37-1EFF-CA94CC40DDD3}"/>
              </a:ext>
            </a:extLst>
          </p:cNvPr>
          <p:cNvSpPr>
            <a:spLocks noGrp="1"/>
          </p:cNvSpPr>
          <p:nvPr>
            <p:ph type="title"/>
          </p:nvPr>
        </p:nvSpPr>
        <p:spPr/>
        <p:txBody>
          <a:bodyPr/>
          <a:lstStyle/>
          <a:p>
            <a:r>
              <a:rPr lang="en-US" dirty="0"/>
              <a:t>Principles come from many sources</a:t>
            </a:r>
          </a:p>
        </p:txBody>
      </p:sp>
      <p:sp>
        <p:nvSpPr>
          <p:cNvPr id="3" name="Content Placeholder 2">
            <a:extLst>
              <a:ext uri="{FF2B5EF4-FFF2-40B4-BE49-F238E27FC236}">
                <a16:creationId xmlns:a16="http://schemas.microsoft.com/office/drawing/2014/main" id="{6AD9C255-3921-A438-0670-1A461788FAE7}"/>
              </a:ext>
            </a:extLst>
          </p:cNvPr>
          <p:cNvSpPr>
            <a:spLocks noGrp="1"/>
          </p:cNvSpPr>
          <p:nvPr>
            <p:ph idx="1"/>
          </p:nvPr>
        </p:nvSpPr>
        <p:spPr/>
        <p:txBody>
          <a:bodyPr/>
          <a:lstStyle/>
          <a:p>
            <a:r>
              <a:rPr lang="en-US" dirty="0"/>
              <a:t>Divine inspiration</a:t>
            </a:r>
          </a:p>
          <a:p>
            <a:r>
              <a:rPr lang="en-US" dirty="0"/>
              <a:t>Trial and Error</a:t>
            </a:r>
          </a:p>
          <a:p>
            <a:r>
              <a:rPr lang="en-US" dirty="0"/>
              <a:t>Pattern recognition</a:t>
            </a:r>
          </a:p>
          <a:p>
            <a:r>
              <a:rPr lang="en-US" dirty="0"/>
              <a:t>Asking questions five or six levels deep</a:t>
            </a:r>
          </a:p>
          <a:p>
            <a:r>
              <a:rPr lang="en-US" dirty="0"/>
              <a:t>Scriptures</a:t>
            </a:r>
          </a:p>
          <a:p>
            <a:pPr marL="0" indent="0">
              <a:buNone/>
            </a:pPr>
            <a:endParaRPr lang="en-US" dirty="0"/>
          </a:p>
        </p:txBody>
      </p:sp>
    </p:spTree>
    <p:extLst>
      <p:ext uri="{BB962C8B-B14F-4D97-AF65-F5344CB8AC3E}">
        <p14:creationId xmlns:p14="http://schemas.microsoft.com/office/powerpoint/2010/main" val="10427348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2661</TotalTime>
  <Words>3234</Words>
  <Application>Microsoft Macintosh PowerPoint</Application>
  <PresentationFormat>Widescreen</PresentationFormat>
  <Paragraphs>321</Paragraphs>
  <Slides>31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-webkit-standard</vt:lpstr>
      <vt:lpstr>Arial</vt:lpstr>
      <vt:lpstr>Calibri</vt:lpstr>
      <vt:lpstr>Franklin Gothic Book</vt:lpstr>
      <vt:lpstr>Times New Roman</vt:lpstr>
      <vt:lpstr>Crop</vt:lpstr>
      <vt:lpstr>Repository of True Principles</vt:lpstr>
      <vt:lpstr>Mission: To Establish an Interactive Repository That Defines, Examines, and Curates the Set of Known True Principles </vt:lpstr>
      <vt:lpstr>Logistics</vt:lpstr>
      <vt:lpstr>Primary Objectives</vt:lpstr>
      <vt:lpstr>Secondary Objectives</vt:lpstr>
      <vt:lpstr>Components of Value</vt:lpstr>
      <vt:lpstr>Technology system needs for True Principles</vt:lpstr>
      <vt:lpstr>Welcome Screen</vt:lpstr>
      <vt:lpstr>Validation screen (might be part of first screen)</vt:lpstr>
      <vt:lpstr>Lookers (casual users)</vt:lpstr>
      <vt:lpstr>Members (free)</vt:lpstr>
      <vt:lpstr>Subscribers 25,000 target—Pay $9.95 per month or $100 per year</vt:lpstr>
      <vt:lpstr>Contributors or Partners</vt:lpstr>
      <vt:lpstr>Contributors (or partners)</vt:lpstr>
      <vt:lpstr>To Do Before Launch (GDK)</vt:lpstr>
      <vt:lpstr>To Do Before Launch (GDK)</vt:lpstr>
      <vt:lpstr>To Do Before Launch</vt:lpstr>
      <vt:lpstr>To do before Launch</vt:lpstr>
      <vt:lpstr>Lowest Fruit to Solicit</vt:lpstr>
      <vt:lpstr>Lowest Hanging Fruit to Prospect</vt:lpstr>
      <vt:lpstr>Minimum Requirements for a Principle to Be Considered as True</vt:lpstr>
      <vt:lpstr>Steps to Submit and Curate a Principle</vt:lpstr>
      <vt:lpstr>Moderators (Curators)</vt:lpstr>
      <vt:lpstr>Possible Moderators</vt:lpstr>
      <vt:lpstr>STOD</vt:lpstr>
      <vt:lpstr>Ideas for Theme</vt:lpstr>
      <vt:lpstr>Why Am I Uniquely Qualified to Do This?</vt:lpstr>
      <vt:lpstr>Open Questions</vt:lpstr>
      <vt:lpstr>Private To Be Used as Necessary</vt:lpstr>
      <vt:lpstr>New Clothes Needed (after revenues start)</vt:lpstr>
      <vt:lpstr>Principles come from many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 Jobs’ Garage</dc:title>
  <dc:creator>Judson Kennedy</dc:creator>
  <cp:lastModifiedBy>gary kennedy</cp:lastModifiedBy>
  <cp:revision>104</cp:revision>
  <dcterms:created xsi:type="dcterms:W3CDTF">2023-03-29T02:04:54Z</dcterms:created>
  <dcterms:modified xsi:type="dcterms:W3CDTF">2025-12-04T15:09:38Z</dcterms:modified>
</cp:coreProperties>
</file>